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&#65279;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5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9144000" cy="5143500" type="screen16x9"/>
  <p:notesSz cx="6858000" cy="9144000"/>
  <p:defaultTextStyle/>
</p:presentation>
</file>

<file path=ppt/presProps.xml><?xml version="1.0" encoding="utf-8"?>
<p:presentationPr xmlns:p="http://schemas.openxmlformats.org/presentationml/2006/main"/>
</file>

<file path=ppt/viewProps.xml><?xml version="1.0" encoding="utf-8"?>
<p:viewPr xmlns:p="http://schemas.openxmlformats.org/presentationml/2006/main"/>
</file>

<file path=ppt/_rels/presentation.xml.rels>&#65279;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Master" Target="slideMasters/slideMaster1.xml"/><Relationship Id="rId16" Type="http://schemas.openxmlformats.org/officeDocument/2006/relationships/theme" Target="theme/theme1.xml"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2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png"/>
</Relationships>
</file>

<file path=ppt/slides/_rels/slide3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png"/>
</Relationships>
</file>

<file path=ppt/slides/_rels/slide4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png"/>
</Relationships>
</file>

<file path=ppt/slides/_rels/slide5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5.png"/>
</Relationships>
</file>

<file path=ppt/slides/_rels/slide6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6.png"/>
</Relationships>
</file>

<file path=ppt/slides/_rels/slide7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7.png"/>
</Relationships>
</file>

<file path=ppt/slides/_rels/slide8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8.png"/>
</Relationships>
</file>

<file path=ppt/slides/_rels/slide9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9.png"/>
</Relationships>
</file>

<file path=ppt/slides/_rels/slide10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0.png"/>
</Relationships>
</file>

<file path=ppt/slides/_rels/slide11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1.png"/>
</Relationships>
</file>

<file path=ppt/slides/_rels/slide12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2.png"/>
</Relationships>
</file>

<file path=ppt/slides/_rels/slide13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3.png"/>
</Relationships>
</file>

<file path=ppt/slides/_rels/slide14.xml.rels>&#65279;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4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bar"/>
          <p:cNvSpPr/>
          <p:nvPr/>
        </p:nvSpPr>
        <p:spPr>
          <a:xfrm>
            <a:off x="0" y="0"/>
            <a:ext cx="9144000" cy="152400"/>
          </a:xfrm>
          <a:prstGeom prst="rect">
            <a:avLst/>
          </a:prstGeom>
          <a:solidFill>
            <a:srgbClr val="00C7D9"/>
          </a:solidFill>
          <a:ln>
            <a:noFill/>
          </a:ln>
        </p:spPr>
      </p:sp>
      <p:sp>
        <p:nvSpPr>
          <p:cNvPr id="2" name="Title"/>
          <p:cNvSpPr txBox="1"/>
          <p:nvPr/>
        </p:nvSpPr>
        <p:spPr>
          <a:xfrm>
            <a:off x="457200" y="304800"/>
            <a:ext cx="4876800" cy="609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300" b="1">
                <a:solidFill>
                  <a:srgbClr val="FFFFFF"/>
                </a:solidFill>
              </a:rPr>
              <a:t>Project Overview</a:t>
            </a:r>
            <a:endParaRPr lang="en-US" sz="3300"/>
          </a:p>
        </p:txBody>
      </p:sp>
      <p:sp>
        <p:nvSpPr>
          <p:cNvPr id="3" name="Body"/>
          <p:cNvSpPr txBox="1"/>
          <p:nvPr/>
        </p:nvSpPr>
        <p:spPr>
          <a:xfrm>
            <a:off x="609600" y="1117600"/>
            <a:ext cx="4876800" cy="3048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DDEAF0"/>
                </a:solidFill>
              </a:rPr>
              <a:t>- DIR DIVING is a SwiftUI watchOS dive app for Apple Watch Ultra-class devices.</a:t>
            </a:r>
            <a:endParaRPr lang="en-US" sz="1900"/>
          </a:p>
          <a:p>
            <a:r>
              <a:rPr lang="en-US" sz="1900">
                <a:solidFill>
                  <a:srgbClr val="DDEAF0"/>
                </a:solidFill>
              </a:rPr>
              <a:t>- The project covers live dive data, navigation, logs, export, configurable limits, and experimental buddy workflows.</a:t>
            </a:r>
            <a:endParaRPr lang="en-US" sz="1900"/>
          </a:p>
        </p:txBody>
      </p:sp>
      <p:pic>
        <p:nvPicPr>
          <p:cNvPr id="4" name="Feature screenshot"/>
          <p:cNvPicPr/>
          <p:nvPr/>
        </p:nvPicPr>
        <p:blipFill>
          <a:blip r:embed="rId2"/>
          <a:stretch>
            <a:fillRect/>
          </a:stretch>
        </p:blipFill>
        <p:spPr>
          <a:xfrm>
            <a:off x="5943600" y="487680"/>
            <a:ext cx="2159000" cy="3543300"/>
          </a:xfrm>
          <a:prstGeom prst="roundRect">
            <a:avLst/>
          </a:prstGeom>
          <a:ln w="12700">
            <a:solidFill>
              <a:srgbClr val="00C7D9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bar"/>
          <p:cNvSpPr/>
          <p:nvPr/>
        </p:nvSpPr>
        <p:spPr>
          <a:xfrm>
            <a:off x="0" y="0"/>
            <a:ext cx="9144000" cy="152400"/>
          </a:xfrm>
          <a:prstGeom prst="rect">
            <a:avLst/>
          </a:prstGeom>
          <a:solidFill>
            <a:srgbClr val="00C7D9"/>
          </a:solidFill>
          <a:ln>
            <a:noFill/>
          </a:ln>
        </p:spPr>
      </p:sp>
      <p:sp>
        <p:nvSpPr>
          <p:cNvPr id="2" name="Title"/>
          <p:cNvSpPr txBox="1"/>
          <p:nvPr/>
        </p:nvSpPr>
        <p:spPr>
          <a:xfrm>
            <a:off x="457200" y="304800"/>
            <a:ext cx="4876800" cy="609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300" b="1">
                <a:solidFill>
                  <a:srgbClr val="FFFFFF"/>
                </a:solidFill>
              </a:rPr>
              <a:t>Live Dive Screen</a:t>
            </a:r>
            <a:endParaRPr lang="en-US" sz="3300"/>
          </a:p>
        </p:txBody>
      </p:sp>
      <p:sp>
        <p:nvSpPr>
          <p:cNvPr id="3" name="Body"/>
          <p:cNvSpPr txBox="1"/>
          <p:nvPr/>
        </p:nvSpPr>
        <p:spPr>
          <a:xfrm>
            <a:off x="609600" y="1117600"/>
            <a:ext cx="4876800" cy="3048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DDEAF0"/>
                </a:solidFill>
              </a:rPr>
              <a:t>- Shows current, maximum, and average depth.</a:t>
            </a:r>
            <a:endParaRPr lang="en-US" sz="1900"/>
          </a:p>
          <a:p>
            <a:r>
              <a:rPr lang="en-US" sz="1900">
                <a:solidFill>
                  <a:srgbClr val="DDEAF0"/>
                </a:solidFill>
              </a:rPr>
              <a:t>- Displays water temperature, RunTime, TTV, and warning state.</a:t>
            </a:r>
            <a:endParaRPr lang="en-US" sz="1900"/>
          </a:p>
          <a:p>
            <a:r>
              <a:rPr lang="en-US" sz="1900">
                <a:solidFill>
                  <a:srgbClr val="DDEAF0"/>
                </a:solidFill>
              </a:rPr>
              <a:t>- Built for glanceable underwater readability.</a:t>
            </a:r>
            <a:endParaRPr lang="en-US" sz="1900"/>
          </a:p>
        </p:txBody>
      </p:sp>
      <p:pic>
        <p:nvPicPr>
          <p:cNvPr id="4" name="Feature screenshot"/>
          <p:cNvPicPr/>
          <p:nvPr/>
        </p:nvPicPr>
        <p:blipFill>
          <a:blip r:embed="rId2"/>
          <a:stretch>
            <a:fillRect/>
          </a:stretch>
        </p:blipFill>
        <p:spPr>
          <a:xfrm>
            <a:off x="5943600" y="487680"/>
            <a:ext cx="2159000" cy="3543300"/>
          </a:xfrm>
          <a:prstGeom prst="roundRect">
            <a:avLst/>
          </a:prstGeom>
          <a:ln w="12700">
            <a:solidFill>
              <a:srgbClr val="00C7D9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bar"/>
          <p:cNvSpPr/>
          <p:nvPr/>
        </p:nvSpPr>
        <p:spPr>
          <a:xfrm>
            <a:off x="0" y="0"/>
            <a:ext cx="9144000" cy="152400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2" name="Title"/>
          <p:cNvSpPr txBox="1"/>
          <p:nvPr/>
        </p:nvSpPr>
        <p:spPr>
          <a:xfrm>
            <a:off x="457200" y="304800"/>
            <a:ext cx="4876800" cy="609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300" b="1">
                <a:solidFill>
                  <a:srgbClr val="FFFFFF"/>
                </a:solidFill>
              </a:rPr>
              <a:t>Ascent Warning</a:t>
            </a:r>
            <a:endParaRPr lang="en-US" sz="3300"/>
          </a:p>
        </p:txBody>
      </p:sp>
      <p:sp>
        <p:nvSpPr>
          <p:cNvPr id="3" name="Body"/>
          <p:cNvSpPr txBox="1"/>
          <p:nvPr/>
        </p:nvSpPr>
        <p:spPr>
          <a:xfrm>
            <a:off x="609600" y="1117600"/>
            <a:ext cx="4876800" cy="3048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DDEAF0"/>
                </a:solidFill>
              </a:rPr>
              <a:t>- Calculates ascent rate from consecutive depth samples.</a:t>
            </a:r>
            <a:endParaRPr lang="en-US" sz="1900"/>
          </a:p>
          <a:p>
            <a:r>
              <a:rPr lang="en-US" sz="1900">
                <a:solidFill>
                  <a:srgbClr val="DDEAF0"/>
                </a:solidFill>
              </a:rPr>
              <a:t>- Uses green, yellow, and red zones.</a:t>
            </a:r>
            <a:endParaRPr lang="en-US" sz="1900"/>
          </a:p>
          <a:p>
            <a:r>
              <a:rPr lang="en-US" sz="1900">
                <a:solidFill>
                  <a:srgbClr val="DDEAF0"/>
                </a:solidFill>
              </a:rPr>
              <a:t>- Triggers red visual warning and haptic feedback when over limit.</a:t>
            </a:r>
            <a:endParaRPr lang="en-US" sz="1900"/>
          </a:p>
        </p:txBody>
      </p:sp>
      <p:pic>
        <p:nvPicPr>
          <p:cNvPr id="4" name="Feature screenshot"/>
          <p:cNvPicPr/>
          <p:nvPr/>
        </p:nvPicPr>
        <p:blipFill>
          <a:blip r:embed="rId2"/>
          <a:stretch>
            <a:fillRect/>
          </a:stretch>
        </p:blipFill>
        <p:spPr>
          <a:xfrm>
            <a:off x="5943600" y="487680"/>
            <a:ext cx="2159000" cy="3543300"/>
          </a:xfrm>
          <a:prstGeom prst="roundRect">
            <a:avLst/>
          </a:prstGeom>
          <a:ln w="12700">
            <a:solidFill>
              <a:srgbClr val="00C7D9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bar"/>
          <p:cNvSpPr/>
          <p:nvPr/>
        </p:nvSpPr>
        <p:spPr>
          <a:xfrm>
            <a:off x="0" y="0"/>
            <a:ext cx="9144000" cy="152400"/>
          </a:xfrm>
          <a:prstGeom prst="rect">
            <a:avLst/>
          </a:prstGeom>
          <a:solidFill>
            <a:srgbClr val="FACC15"/>
          </a:solidFill>
          <a:ln>
            <a:noFill/>
          </a:ln>
        </p:spPr>
      </p:sp>
      <p:sp>
        <p:nvSpPr>
          <p:cNvPr id="2" name="Title"/>
          <p:cNvSpPr txBox="1"/>
          <p:nvPr/>
        </p:nvSpPr>
        <p:spPr>
          <a:xfrm>
            <a:off x="457200" y="304800"/>
            <a:ext cx="4876800" cy="609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300" b="1">
                <a:solidFill>
                  <a:srgbClr val="FFFFFF"/>
                </a:solidFill>
              </a:rPr>
              <a:t>Configurable Ascent Limits</a:t>
            </a:r>
            <a:endParaRPr lang="en-US" sz="3300"/>
          </a:p>
        </p:txBody>
      </p:sp>
      <p:sp>
        <p:nvSpPr>
          <p:cNvPr id="3" name="Body"/>
          <p:cNvSpPr txBox="1"/>
          <p:nvPr/>
        </p:nvSpPr>
        <p:spPr>
          <a:xfrm>
            <a:off x="609600" y="1117600"/>
            <a:ext cx="4876800" cy="3048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DDEAF0"/>
                </a:solidFill>
              </a:rPr>
              <a:t>- Diver can edit each depth-band ascent limit on Apple Watch.</a:t>
            </a:r>
            <a:endParaRPr lang="en-US" sz="1900"/>
          </a:p>
          <a:p>
            <a:r>
              <a:rPr lang="en-US" sz="1900">
                <a:solidFill>
                  <a:srgbClr val="DDEAF0"/>
                </a:solidFill>
              </a:rPr>
              <a:t>- Values persist locally through UserDefaults.</a:t>
            </a:r>
            <a:endParaRPr lang="en-US" sz="1900"/>
          </a:p>
          <a:p>
            <a:r>
              <a:rPr lang="en-US" sz="1900">
                <a:solidFill>
                  <a:srgbClr val="DDEAF0"/>
                </a:solidFill>
              </a:rPr>
              <a:t>- Reset returns the profile to standard limits.</a:t>
            </a:r>
            <a:endParaRPr lang="en-US" sz="1900"/>
          </a:p>
        </p:txBody>
      </p:sp>
      <p:pic>
        <p:nvPicPr>
          <p:cNvPr id="4" name="Feature screenshot"/>
          <p:cNvPicPr/>
          <p:nvPr/>
        </p:nvPicPr>
        <p:blipFill>
          <a:blip r:embed="rId2"/>
          <a:stretch>
            <a:fillRect/>
          </a:stretch>
        </p:blipFill>
        <p:spPr>
          <a:xfrm>
            <a:off x="5943600" y="487680"/>
            <a:ext cx="2159000" cy="3543300"/>
          </a:xfrm>
          <a:prstGeom prst="roundRect">
            <a:avLst/>
          </a:prstGeom>
          <a:ln w="12700">
            <a:solidFill>
              <a:srgbClr val="00C7D9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bar"/>
          <p:cNvSpPr/>
          <p:nvPr/>
        </p:nvSpPr>
        <p:spPr>
          <a:xfrm>
            <a:off x="0" y="0"/>
            <a:ext cx="9144000" cy="152400"/>
          </a:xfrm>
          <a:prstGeom prst="rect">
            <a:avLst/>
          </a:prstGeom>
          <a:solidFill>
            <a:srgbClr val="36D399"/>
          </a:solidFill>
          <a:ln>
            <a:noFill/>
          </a:ln>
        </p:spPr>
      </p:sp>
      <p:sp>
        <p:nvSpPr>
          <p:cNvPr id="2" name="Title"/>
          <p:cNvSpPr txBox="1"/>
          <p:nvPr/>
        </p:nvSpPr>
        <p:spPr>
          <a:xfrm>
            <a:off x="457200" y="304800"/>
            <a:ext cx="4876800" cy="609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300" b="1">
                <a:solidFill>
                  <a:srgbClr val="FFFFFF"/>
                </a:solidFill>
              </a:rPr>
              <a:t>Compass and Bearing</a:t>
            </a:r>
            <a:endParaRPr lang="en-US" sz="3300"/>
          </a:p>
        </p:txBody>
      </p:sp>
      <p:sp>
        <p:nvSpPr>
          <p:cNvPr id="3" name="Body"/>
          <p:cNvSpPr txBox="1"/>
          <p:nvPr/>
        </p:nvSpPr>
        <p:spPr>
          <a:xfrm>
            <a:off x="609600" y="1117600"/>
            <a:ext cx="4876800" cy="3048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DDEAF0"/>
                </a:solidFill>
              </a:rPr>
              <a:t>- Full compass screen with heading and cardinal direction.</a:t>
            </a:r>
            <a:endParaRPr lang="en-US" sz="1900"/>
          </a:p>
          <a:p>
            <a:r>
              <a:rPr lang="en-US" sz="1900">
                <a:solidFill>
                  <a:srgbClr val="DDEAF0"/>
                </a:solidFill>
              </a:rPr>
              <a:t>- SET BEARING and CLEAR actions are contextual.</a:t>
            </a:r>
            <a:endParaRPr lang="en-US" sz="1900"/>
          </a:p>
          <a:p>
            <a:r>
              <a:rPr lang="en-US" sz="1900">
                <a:solidFill>
                  <a:srgbClr val="DDEAF0"/>
                </a:solidFill>
              </a:rPr>
              <a:t>- CoreLocation heading updates drive the display.</a:t>
            </a:r>
            <a:endParaRPr lang="en-US" sz="1900"/>
          </a:p>
        </p:txBody>
      </p:sp>
      <p:pic>
        <p:nvPicPr>
          <p:cNvPr id="4" name="Feature screenshot"/>
          <p:cNvPicPr/>
          <p:nvPr/>
        </p:nvPicPr>
        <p:blipFill>
          <a:blip r:embed="rId2"/>
          <a:stretch>
            <a:fillRect/>
          </a:stretch>
        </p:blipFill>
        <p:spPr>
          <a:xfrm>
            <a:off x="5943600" y="487680"/>
            <a:ext cx="2159000" cy="3543300"/>
          </a:xfrm>
          <a:prstGeom prst="roundRect">
            <a:avLst/>
          </a:prstGeom>
          <a:ln w="12700">
            <a:solidFill>
              <a:srgbClr val="00C7D9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bar"/>
          <p:cNvSpPr/>
          <p:nvPr/>
        </p:nvSpPr>
        <p:spPr>
          <a:xfrm>
            <a:off x="0" y="0"/>
            <a:ext cx="9144000" cy="152400"/>
          </a:xfrm>
          <a:prstGeom prst="rect">
            <a:avLst/>
          </a:prstGeom>
          <a:solidFill>
            <a:srgbClr val="60A5FA"/>
          </a:solidFill>
          <a:ln>
            <a:noFill/>
          </a:ln>
        </p:spPr>
      </p:sp>
      <p:sp>
        <p:nvSpPr>
          <p:cNvPr id="2" name="Title"/>
          <p:cNvSpPr txBox="1"/>
          <p:nvPr/>
        </p:nvSpPr>
        <p:spPr>
          <a:xfrm>
            <a:off x="457200" y="304800"/>
            <a:ext cx="4876800" cy="609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300" b="1">
                <a:solidFill>
                  <a:srgbClr val="FFFFFF"/>
                </a:solidFill>
              </a:rPr>
              <a:t>Manual Stopwatch and Action Button</a:t>
            </a:r>
            <a:endParaRPr lang="en-US" sz="3300"/>
          </a:p>
        </p:txBody>
      </p:sp>
      <p:sp>
        <p:nvSpPr>
          <p:cNvPr id="3" name="Body"/>
          <p:cNvSpPr txBox="1"/>
          <p:nvPr/>
        </p:nvSpPr>
        <p:spPr>
          <a:xfrm>
            <a:off x="609600" y="1117600"/>
            <a:ext cx="4876800" cy="3048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DDEAF0"/>
                </a:solidFill>
              </a:rPr>
              <a:t>- Manual stopwatch is separate from automatic RunTime.</a:t>
            </a:r>
            <a:endParaRPr lang="en-US" sz="1900"/>
          </a:p>
          <a:p>
            <a:r>
              <a:rPr lang="en-US" sz="1900">
                <a:solidFill>
                  <a:srgbClr val="DDEAF0"/>
                </a:solidFill>
              </a:rPr>
              <a:t>- START, STOP, and RESET are available on screen.</a:t>
            </a:r>
            <a:endParaRPr lang="en-US" sz="1900"/>
          </a:p>
          <a:p>
            <a:r>
              <a:rPr lang="en-US" sz="1900">
                <a:solidFill>
                  <a:srgbClr val="DDEAF0"/>
                </a:solidFill>
              </a:rPr>
              <a:t>- App Intents support stopwatch workflows and Buddy Assist access.</a:t>
            </a:r>
            <a:endParaRPr lang="en-US" sz="1900"/>
          </a:p>
        </p:txBody>
      </p:sp>
      <p:pic>
        <p:nvPicPr>
          <p:cNvPr id="4" name="Feature screenshot"/>
          <p:cNvPicPr/>
          <p:nvPr/>
        </p:nvPicPr>
        <p:blipFill>
          <a:blip r:embed="rId2"/>
          <a:stretch>
            <a:fillRect/>
          </a:stretch>
        </p:blipFill>
        <p:spPr>
          <a:xfrm>
            <a:off x="5943600" y="487680"/>
            <a:ext cx="2159000" cy="3543300"/>
          </a:xfrm>
          <a:prstGeom prst="roundRect">
            <a:avLst/>
          </a:prstGeom>
          <a:ln w="12700">
            <a:solidFill>
              <a:srgbClr val="00C7D9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bar"/>
          <p:cNvSpPr/>
          <p:nvPr/>
        </p:nvSpPr>
        <p:spPr>
          <a:xfrm>
            <a:off x="0" y="0"/>
            <a:ext cx="9144000" cy="152400"/>
          </a:xfrm>
          <a:prstGeom prst="rect">
            <a:avLst/>
          </a:prstGeom>
          <a:solidFill>
            <a:srgbClr val="A78BFA"/>
          </a:solidFill>
          <a:ln>
            <a:noFill/>
          </a:ln>
        </p:spPr>
      </p:sp>
      <p:sp>
        <p:nvSpPr>
          <p:cNvPr id="2" name="Title"/>
          <p:cNvSpPr txBox="1"/>
          <p:nvPr/>
        </p:nvSpPr>
        <p:spPr>
          <a:xfrm>
            <a:off x="457200" y="304800"/>
            <a:ext cx="4876800" cy="609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300" b="1">
                <a:solidFill>
                  <a:srgbClr val="FFFFFF"/>
                </a:solidFill>
              </a:rPr>
              <a:t>Dive Log</a:t>
            </a:r>
            <a:endParaRPr lang="en-US" sz="3300"/>
          </a:p>
        </p:txBody>
      </p:sp>
      <p:sp>
        <p:nvSpPr>
          <p:cNvPr id="3" name="Body"/>
          <p:cNvSpPr txBox="1"/>
          <p:nvPr/>
        </p:nvSpPr>
        <p:spPr>
          <a:xfrm>
            <a:off x="609600" y="1117600"/>
            <a:ext cx="4876800" cy="3048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DDEAF0"/>
                </a:solidFill>
              </a:rPr>
              <a:t>- Stores the latest 40 dives locally.</a:t>
            </a:r>
            <a:endParaRPr lang="en-US" sz="1900"/>
          </a:p>
          <a:p>
            <a:r>
              <a:rPr lang="en-US" sz="1900">
                <a:solidFill>
                  <a:srgbClr val="DDEAF0"/>
                </a:solidFill>
              </a:rPr>
              <a:t>- Sessions include duration, depths, temperatures, GPS metadata, and samples.</a:t>
            </a:r>
            <a:endParaRPr lang="en-US" sz="1900"/>
          </a:p>
          <a:p>
            <a:r>
              <a:rPr lang="en-US" sz="1900">
                <a:solidFill>
                  <a:srgbClr val="DDEAF0"/>
                </a:solidFill>
              </a:rPr>
              <a:t>- Log entries are sorted by start date.</a:t>
            </a:r>
            <a:endParaRPr lang="en-US" sz="1900"/>
          </a:p>
        </p:txBody>
      </p:sp>
      <p:pic>
        <p:nvPicPr>
          <p:cNvPr id="4" name="Feature screenshot"/>
          <p:cNvPicPr/>
          <p:nvPr/>
        </p:nvPicPr>
        <p:blipFill>
          <a:blip r:embed="rId2"/>
          <a:stretch>
            <a:fillRect/>
          </a:stretch>
        </p:blipFill>
        <p:spPr>
          <a:xfrm>
            <a:off x="5943600" y="487680"/>
            <a:ext cx="2159000" cy="3543300"/>
          </a:xfrm>
          <a:prstGeom prst="roundRect">
            <a:avLst/>
          </a:prstGeom>
          <a:ln w="12700">
            <a:solidFill>
              <a:srgbClr val="00C7D9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bar"/>
          <p:cNvSpPr/>
          <p:nvPr/>
        </p:nvSpPr>
        <p:spPr>
          <a:xfrm>
            <a:off x="0" y="0"/>
            <a:ext cx="9144000" cy="15240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2" name="Title"/>
          <p:cNvSpPr txBox="1"/>
          <p:nvPr/>
        </p:nvSpPr>
        <p:spPr>
          <a:xfrm>
            <a:off x="457200" y="304800"/>
            <a:ext cx="4876800" cy="609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300" b="1">
                <a:solidFill>
                  <a:srgbClr val="FFFFFF"/>
                </a:solidFill>
              </a:rPr>
              <a:t>Dive Detail and Subsurface Export</a:t>
            </a:r>
            <a:endParaRPr lang="en-US" sz="3300"/>
          </a:p>
        </p:txBody>
      </p:sp>
      <p:sp>
        <p:nvSpPr>
          <p:cNvPr id="3" name="Body"/>
          <p:cNvSpPr txBox="1"/>
          <p:nvPr/>
        </p:nvSpPr>
        <p:spPr>
          <a:xfrm>
            <a:off x="609600" y="1117600"/>
            <a:ext cx="4876800" cy="3048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DDEAF0"/>
                </a:solidFill>
              </a:rPr>
              <a:t>- Dive detail shows metrics and a profile chart.</a:t>
            </a:r>
            <a:endParaRPr lang="en-US" sz="1900"/>
          </a:p>
          <a:p>
            <a:r>
              <a:rPr lang="en-US" sz="1900">
                <a:solidFill>
                  <a:srgbClr val="DDEAF0"/>
                </a:solidFill>
              </a:rPr>
              <a:t>- CSV generation supports Subsurface import workflows.</a:t>
            </a:r>
            <a:endParaRPr lang="en-US" sz="1900"/>
          </a:p>
          <a:p>
            <a:r>
              <a:rPr lang="en-US" sz="1900">
                <a:solidFill>
                  <a:srgbClr val="DDEAF0"/>
                </a:solidFill>
              </a:rPr>
              <a:t>- ShareLink sends CSV to Files, AirDrop, email, or companion devices.</a:t>
            </a:r>
            <a:endParaRPr lang="en-US" sz="1900"/>
          </a:p>
        </p:txBody>
      </p:sp>
      <p:pic>
        <p:nvPicPr>
          <p:cNvPr id="4" name="Feature screenshot"/>
          <p:cNvPicPr/>
          <p:nvPr/>
        </p:nvPicPr>
        <p:blipFill>
          <a:blip r:embed="rId2"/>
          <a:stretch>
            <a:fillRect/>
          </a:stretch>
        </p:blipFill>
        <p:spPr>
          <a:xfrm>
            <a:off x="5943600" y="487680"/>
            <a:ext cx="2159000" cy="3543300"/>
          </a:xfrm>
          <a:prstGeom prst="roundRect">
            <a:avLst/>
          </a:prstGeom>
          <a:ln w="12700">
            <a:solidFill>
              <a:srgbClr val="00C7D9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bar"/>
          <p:cNvSpPr/>
          <p:nvPr/>
        </p:nvSpPr>
        <p:spPr>
          <a:xfrm>
            <a:off x="0" y="0"/>
            <a:ext cx="9144000" cy="152400"/>
          </a:xfrm>
          <a:prstGeom prst="rect">
            <a:avLst/>
          </a:prstGeom>
          <a:solidFill>
            <a:srgbClr val="34D399"/>
          </a:solidFill>
          <a:ln>
            <a:noFill/>
          </a:ln>
        </p:spPr>
      </p:sp>
      <p:sp>
        <p:nvSpPr>
          <p:cNvPr id="2" name="Title"/>
          <p:cNvSpPr txBox="1"/>
          <p:nvPr/>
        </p:nvSpPr>
        <p:spPr>
          <a:xfrm>
            <a:off x="457200" y="304800"/>
            <a:ext cx="4876800" cy="609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300" b="1">
                <a:solidFill>
                  <a:srgbClr val="FFFFFF"/>
                </a:solidFill>
              </a:rPr>
              <a:t>GPS Entry and Exit</a:t>
            </a:r>
            <a:endParaRPr lang="en-US" sz="3300"/>
          </a:p>
        </p:txBody>
      </p:sp>
      <p:sp>
        <p:nvSpPr>
          <p:cNvPr id="3" name="Body"/>
          <p:cNvSpPr txBox="1"/>
          <p:nvPr/>
        </p:nvSpPr>
        <p:spPr>
          <a:xfrm>
            <a:off x="609600" y="1117600"/>
            <a:ext cx="4876800" cy="3048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DDEAF0"/>
                </a:solidFill>
              </a:rPr>
              <a:t>- Captures surface entry and exit coordinates.</a:t>
            </a:r>
            <a:endParaRPr lang="en-US" sz="1900"/>
          </a:p>
          <a:p>
            <a:r>
              <a:rPr lang="en-US" sz="1900">
                <a:solidFill>
                  <a:srgbClr val="DDEAF0"/>
                </a:solidFill>
              </a:rPr>
              <a:t>- Uses a best-effort capture window for better fixes.</a:t>
            </a:r>
            <a:endParaRPr lang="en-US" sz="1900"/>
          </a:p>
          <a:p>
            <a:r>
              <a:rPr lang="en-US" sz="1900">
                <a:solidFill>
                  <a:srgbClr val="DDEAF0"/>
                </a:solidFill>
              </a:rPr>
              <a:t>- GPS is metadata only, not underwater tracking.</a:t>
            </a:r>
            <a:endParaRPr lang="en-US" sz="1900"/>
          </a:p>
        </p:txBody>
      </p:sp>
      <p:pic>
        <p:nvPicPr>
          <p:cNvPr id="4" name="Feature screenshot"/>
          <p:cNvPicPr/>
          <p:nvPr/>
        </p:nvPicPr>
        <p:blipFill>
          <a:blip r:embed="rId2"/>
          <a:stretch>
            <a:fillRect/>
          </a:stretch>
        </p:blipFill>
        <p:spPr>
          <a:xfrm>
            <a:off x="5943600" y="487680"/>
            <a:ext cx="2159000" cy="3543300"/>
          </a:xfrm>
          <a:prstGeom prst="roundRect">
            <a:avLst/>
          </a:prstGeom>
          <a:ln w="12700">
            <a:solidFill>
              <a:srgbClr val="00C7D9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bar"/>
          <p:cNvSpPr/>
          <p:nvPr/>
        </p:nvSpPr>
        <p:spPr>
          <a:xfrm>
            <a:off x="0" y="0"/>
            <a:ext cx="9144000" cy="152400"/>
          </a:xfrm>
          <a:prstGeom prst="rect">
            <a:avLst/>
          </a:prstGeom>
          <a:solidFill>
            <a:srgbClr val="FB923C"/>
          </a:solidFill>
          <a:ln>
            <a:noFill/>
          </a:ln>
        </p:spPr>
      </p:sp>
      <p:sp>
        <p:nvSpPr>
          <p:cNvPr id="2" name="Title"/>
          <p:cNvSpPr txBox="1"/>
          <p:nvPr/>
        </p:nvSpPr>
        <p:spPr>
          <a:xfrm>
            <a:off x="457200" y="304800"/>
            <a:ext cx="4876800" cy="609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300" b="1">
                <a:solidFill>
                  <a:srgbClr val="FFFFFF"/>
                </a:solidFill>
              </a:rPr>
              <a:t>User Images</a:t>
            </a:r>
            <a:endParaRPr lang="en-US" sz="3300"/>
          </a:p>
        </p:txBody>
      </p:sp>
      <p:sp>
        <p:nvSpPr>
          <p:cNvPr id="3" name="Body"/>
          <p:cNvSpPr txBox="1"/>
          <p:nvPr/>
        </p:nvSpPr>
        <p:spPr>
          <a:xfrm>
            <a:off x="609600" y="1117600"/>
            <a:ext cx="4876800" cy="3048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DDEAF0"/>
                </a:solidFill>
              </a:rPr>
              <a:t>- Displays bundled PNG, JPG, JPEG, or HEIC reference screens.</a:t>
            </a:r>
            <a:endParaRPr lang="en-US" sz="1900"/>
          </a:p>
          <a:p>
            <a:r>
              <a:rPr lang="en-US" sz="1900">
                <a:solidFill>
                  <a:srgbClr val="DDEAF0"/>
                </a:solidFill>
              </a:rPr>
              <a:t>- Useful for checklists, procedures, tables, and static reminders.</a:t>
            </a:r>
            <a:endParaRPr lang="en-US" sz="1900"/>
          </a:p>
          <a:p>
            <a:r>
              <a:rPr lang="en-US" sz="1900">
                <a:solidFill>
                  <a:srgbClr val="DDEAF0"/>
                </a:solidFill>
              </a:rPr>
              <a:t>- Future path can use WatchConnectivity from an iPhone companion app.</a:t>
            </a:r>
            <a:endParaRPr lang="en-US" sz="1900"/>
          </a:p>
        </p:txBody>
      </p:sp>
      <p:pic>
        <p:nvPicPr>
          <p:cNvPr id="4" name="Feature screenshot"/>
          <p:cNvPicPr/>
          <p:nvPr/>
        </p:nvPicPr>
        <p:blipFill>
          <a:blip r:embed="rId2"/>
          <a:stretch>
            <a:fillRect/>
          </a:stretch>
        </p:blipFill>
        <p:spPr>
          <a:xfrm>
            <a:off x="5943600" y="487680"/>
            <a:ext cx="2159000" cy="3543300"/>
          </a:xfrm>
          <a:prstGeom prst="roundRect">
            <a:avLst/>
          </a:prstGeom>
          <a:ln w="12700">
            <a:solidFill>
              <a:srgbClr val="00C7D9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bar"/>
          <p:cNvSpPr/>
          <p:nvPr/>
        </p:nvSpPr>
        <p:spPr>
          <a:xfrm>
            <a:off x="0" y="0"/>
            <a:ext cx="9144000" cy="152400"/>
          </a:xfrm>
          <a:prstGeom prst="rect">
            <a:avLst/>
          </a:prstGeom>
          <a:solidFill>
            <a:srgbClr val="00C7D9"/>
          </a:solidFill>
          <a:ln>
            <a:noFill/>
          </a:ln>
        </p:spPr>
      </p:sp>
      <p:sp>
        <p:nvSpPr>
          <p:cNvPr id="2" name="Title"/>
          <p:cNvSpPr txBox="1"/>
          <p:nvPr/>
        </p:nvSpPr>
        <p:spPr>
          <a:xfrm>
            <a:off x="457200" y="304800"/>
            <a:ext cx="4876800" cy="609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300" b="1">
                <a:solidFill>
                  <a:srgbClr val="FFFFFF"/>
                </a:solidFill>
              </a:rPr>
              <a:t>Pre-Dive Buddy Pairing</a:t>
            </a:r>
            <a:endParaRPr lang="en-US" sz="3300"/>
          </a:p>
        </p:txBody>
      </p:sp>
      <p:sp>
        <p:nvSpPr>
          <p:cNvPr id="3" name="Body"/>
          <p:cNvSpPr txBox="1"/>
          <p:nvPr/>
        </p:nvSpPr>
        <p:spPr>
          <a:xfrm>
            <a:off x="609600" y="1117600"/>
            <a:ext cx="4876800" cy="3048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DDEAF0"/>
                </a:solidFill>
              </a:rPr>
              <a:t>- Apple Watch Ultra users identify their DIR DIVING buddy before the dive.</a:t>
            </a:r>
            <a:endParaRPr lang="en-US" sz="1900"/>
          </a:p>
          <a:p>
            <a:r>
              <a:rPr lang="en-US" sz="1900">
                <a:solidFill>
                  <a:srgbClr val="DDEAF0"/>
                </a:solidFill>
              </a:rPr>
              <a:t>- PAIRING PRE-DIVE shows PAIRED or NOT PAIRED and stores the buddy identity locally.</a:t>
            </a:r>
            <a:endParaRPr lang="en-US" sz="1900"/>
          </a:p>
          <a:p>
            <a:r>
              <a:rPr lang="en-US" sz="1900">
                <a:solidFill>
                  <a:srgbClr val="DDEAF0"/>
                </a:solidFill>
              </a:rPr>
              <a:t>- Pairing is disabled during immersion; the warning remains visible in the Buddy UI.</a:t>
            </a:r>
            <a:endParaRPr lang="en-US" sz="1900"/>
          </a:p>
        </p:txBody>
      </p:sp>
      <p:pic>
        <p:nvPicPr>
          <p:cNvPr id="4" name="Feature screenshot"/>
          <p:cNvPicPr/>
          <p:nvPr/>
        </p:nvPicPr>
        <p:blipFill>
          <a:blip r:embed="rId2"/>
          <a:stretch>
            <a:fillRect/>
          </a:stretch>
        </p:blipFill>
        <p:spPr>
          <a:xfrm>
            <a:off x="5943600" y="487680"/>
            <a:ext cx="2159000" cy="3543300"/>
          </a:xfrm>
          <a:prstGeom prst="roundRect">
            <a:avLst/>
          </a:prstGeom>
          <a:ln w="12700">
            <a:solidFill>
              <a:srgbClr val="00C7D9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bar"/>
          <p:cNvSpPr/>
          <p:nvPr/>
        </p:nvSpPr>
        <p:spPr>
          <a:xfrm>
            <a:off x="0" y="0"/>
            <a:ext cx="9144000" cy="152400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2" name="Title"/>
          <p:cNvSpPr txBox="1"/>
          <p:nvPr/>
        </p:nvSpPr>
        <p:spPr>
          <a:xfrm>
            <a:off x="457200" y="304800"/>
            <a:ext cx="4876800" cy="609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300" b="1">
                <a:solidFill>
                  <a:srgbClr val="FFFFFF"/>
                </a:solidFill>
              </a:rPr>
              <a:t>Received Message and Answer</a:t>
            </a:r>
            <a:endParaRPr lang="en-US" sz="3300"/>
          </a:p>
        </p:txBody>
      </p:sp>
      <p:sp>
        <p:nvSpPr>
          <p:cNvPr id="3" name="Body"/>
          <p:cNvSpPr txBox="1"/>
          <p:nvPr/>
        </p:nvSpPr>
        <p:spPr>
          <a:xfrm>
            <a:off x="609600" y="1117600"/>
            <a:ext cx="4876800" cy="3048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DDEAF0"/>
                </a:solidFill>
              </a:rPr>
              <a:t>- Incoming buddy messages appear in a large banner.</a:t>
            </a:r>
            <a:endParaRPr lang="en-US" sz="1900"/>
          </a:p>
          <a:p>
            <a:r>
              <a:rPr lang="en-US" sz="1900">
                <a:solidFill>
                  <a:srgbClr val="DDEAF0"/>
                </a:solidFill>
              </a:rPr>
              <a:t>- Critical messages are highlighted in red and trigger failure haptics.</a:t>
            </a:r>
            <a:endParaRPr lang="en-US" sz="1900"/>
          </a:p>
          <a:p>
            <a:r>
              <a:rPr lang="en-US" sz="1900">
                <a:solidFill>
                  <a:srgbClr val="DDEAF0"/>
                </a:solidFill>
              </a:rPr>
              <a:t>- ANSWER opens the same preset message set for immediate reply.</a:t>
            </a:r>
            <a:endParaRPr lang="en-US" sz="1900"/>
          </a:p>
        </p:txBody>
      </p:sp>
      <p:pic>
        <p:nvPicPr>
          <p:cNvPr id="4" name="Feature screenshot"/>
          <p:cNvPicPr/>
          <p:nvPr/>
        </p:nvPicPr>
        <p:blipFill>
          <a:blip r:embed="rId2"/>
          <a:stretch>
            <a:fillRect/>
          </a:stretch>
        </p:blipFill>
        <p:spPr>
          <a:xfrm>
            <a:off x="5943600" y="487680"/>
            <a:ext cx="2159000" cy="3543300"/>
          </a:xfrm>
          <a:prstGeom prst="roundRect">
            <a:avLst/>
          </a:prstGeom>
          <a:ln w="12700">
            <a:solidFill>
              <a:srgbClr val="00C7D9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bar"/>
          <p:cNvSpPr/>
          <p:nvPr/>
        </p:nvSpPr>
        <p:spPr>
          <a:xfrm>
            <a:off x="0" y="0"/>
            <a:ext cx="9144000" cy="152400"/>
          </a:xfrm>
          <a:prstGeom prst="rect">
            <a:avLst/>
          </a:prstGeom>
          <a:solidFill>
            <a:srgbClr val="36D399"/>
          </a:solidFill>
          <a:ln>
            <a:noFill/>
          </a:ln>
        </p:spPr>
      </p:sp>
      <p:sp>
        <p:nvSpPr>
          <p:cNvPr id="2" name="Title"/>
          <p:cNvSpPr txBox="1"/>
          <p:nvPr/>
        </p:nvSpPr>
        <p:spPr>
          <a:xfrm>
            <a:off x="457200" y="304800"/>
            <a:ext cx="4876800" cy="609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300" b="1">
                <a:solidFill>
                  <a:srgbClr val="FFFFFF"/>
                </a:solidFill>
              </a:rPr>
              <a:t>Buddy Link and Plausible Direction</a:t>
            </a:r>
            <a:endParaRPr lang="en-US" sz="3300"/>
          </a:p>
        </p:txBody>
      </p:sp>
      <p:sp>
        <p:nvSpPr>
          <p:cNvPr id="3" name="Body"/>
          <p:cNvSpPr txBox="1"/>
          <p:nvPr/>
        </p:nvSpPr>
        <p:spPr>
          <a:xfrm>
            <a:off x="609600" y="1117600"/>
            <a:ext cx="4876800" cy="3048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DDEAF0"/>
                </a:solidFill>
              </a:rPr>
              <a:t>- Buddy Link shows ONLINE or LOST.</a:t>
            </a:r>
            <a:endParaRPr lang="en-US" sz="1900"/>
          </a:p>
          <a:p>
            <a:r>
              <a:rPr lang="en-US" sz="1900">
                <a:solidFill>
                  <a:srgbClr val="DDEAF0"/>
                </a:solidFill>
              </a:rPr>
              <a:t>- Signal dot uses green, yellow, and red state.</a:t>
            </a:r>
            <a:endParaRPr lang="en-US" sz="1900"/>
          </a:p>
          <a:p>
            <a:r>
              <a:rPr lang="en-US" sz="1900">
                <a:solidFill>
                  <a:srgbClr val="DDEAF0"/>
                </a:solidFill>
              </a:rPr>
              <a:t>- Compass block combines last known direction, shared bearing, and heading into a plausible direction.</a:t>
            </a:r>
            <a:endParaRPr lang="en-US" sz="1900"/>
          </a:p>
        </p:txBody>
      </p:sp>
      <p:pic>
        <p:nvPicPr>
          <p:cNvPr id="4" name="Feature screenshot"/>
          <p:cNvPicPr/>
          <p:nvPr/>
        </p:nvPicPr>
        <p:blipFill>
          <a:blip r:embed="rId2"/>
          <a:stretch>
            <a:fillRect/>
          </a:stretch>
        </p:blipFill>
        <p:spPr>
          <a:xfrm>
            <a:off x="5943600" y="487680"/>
            <a:ext cx="2159000" cy="3543300"/>
          </a:xfrm>
          <a:prstGeom prst="roundRect">
            <a:avLst/>
          </a:prstGeom>
          <a:ln w="12700">
            <a:solidFill>
              <a:srgbClr val="00C7D9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bar"/>
          <p:cNvSpPr/>
          <p:nvPr/>
        </p:nvSpPr>
        <p:spPr>
          <a:xfrm>
            <a:off x="0" y="0"/>
            <a:ext cx="9144000" cy="152400"/>
          </a:xfrm>
          <a:prstGeom prst="rect">
            <a:avLst/>
          </a:prstGeom>
          <a:solidFill>
            <a:srgbClr val="FB923C"/>
          </a:solidFill>
          <a:ln>
            <a:noFill/>
          </a:ln>
        </p:spPr>
      </p:sp>
      <p:sp>
        <p:nvSpPr>
          <p:cNvPr id="2" name="Title"/>
          <p:cNvSpPr txBox="1"/>
          <p:nvPr/>
        </p:nvSpPr>
        <p:spPr>
          <a:xfrm>
            <a:off x="457200" y="304800"/>
            <a:ext cx="4876800" cy="609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300" b="1">
                <a:solidFill>
                  <a:srgbClr val="FFFFFF"/>
                </a:solidFill>
              </a:rPr>
              <a:t>Experimental Safety Position</a:t>
            </a:r>
            <a:endParaRPr lang="en-US" sz="3300"/>
          </a:p>
        </p:txBody>
      </p:sp>
      <p:sp>
        <p:nvSpPr>
          <p:cNvPr id="3" name="Body"/>
          <p:cNvSpPr txBox="1"/>
          <p:nvPr/>
        </p:nvSpPr>
        <p:spPr>
          <a:xfrm>
            <a:off x="609600" y="1117600"/>
            <a:ext cx="4876800" cy="3048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DDEAF0"/>
                </a:solidFill>
              </a:rPr>
              <a:t>- Buddy proximity and BLE messaging are not certified safety systems.</a:t>
            </a:r>
            <a:endParaRPr lang="en-US" sz="1900"/>
          </a:p>
          <a:p>
            <a:r>
              <a:rPr lang="en-US" sz="1900">
                <a:solidFill>
                  <a:srgbClr val="DDEAF0"/>
                </a:solidFill>
              </a:rPr>
              <a:t>- watchOS cannot advertise BLE services through CBPeripheralManager, limiting pure Watch-to-Watch BLE.</a:t>
            </a:r>
            <a:endParaRPr lang="en-US" sz="1900"/>
          </a:p>
          <a:p>
            <a:r>
              <a:rPr lang="en-US" sz="1900">
                <a:solidFill>
                  <a:srgbClr val="DDEAF0"/>
                </a:solidFill>
              </a:rPr>
              <a:t>- Hardware validation and a relay or revised architecture may be required.</a:t>
            </a:r>
            <a:endParaRPr lang="en-US" sz="1900"/>
          </a:p>
        </p:txBody>
      </p:sp>
      <p:pic>
        <p:nvPicPr>
          <p:cNvPr id="4" name="Feature screenshot"/>
          <p:cNvPicPr/>
          <p:nvPr/>
        </p:nvPicPr>
        <p:blipFill>
          <a:blip r:embed="rId2"/>
          <a:stretch>
            <a:fillRect/>
          </a:stretch>
        </p:blipFill>
        <p:spPr>
          <a:xfrm>
            <a:off x="5943600" y="487680"/>
            <a:ext cx="2159000" cy="3543300"/>
          </a:xfrm>
          <a:prstGeom prst="roundRect">
            <a:avLst/>
          </a:prstGeom>
          <a:ln w="12700">
            <a:solidFill>
              <a:srgbClr val="00C7D9"/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IR DIVING">
  <a:themeElements>
    <a:clrScheme name="DIR DIVING">
      <a:dk1>
        <a:srgbClr val="071820"/>
      </a:dk1>
      <a:lt1>
        <a:srgbClr val="FFFFFF"/>
      </a:lt1>
      <a:dk2>
        <a:srgbClr val="0F2A36"/>
      </a:dk2>
      <a:lt2>
        <a:srgbClr val="DDEAF0"/>
      </a:lt2>
      <a:accent1>
        <a:srgbClr val="00C7D9"/>
      </a:accent1>
      <a:accent2>
        <a:srgbClr val="36D399"/>
      </a:accent2>
      <a:accent3>
        <a:srgbClr val="FACC15"/>
      </a:accent3>
      <a:accent4>
        <a:srgbClr val="EF4444"/>
      </a:accent4>
      <a:accent5>
        <a:srgbClr val="60A5FA"/>
      </a:accent5>
      <a:accent6>
        <a:srgbClr val="A78BFA"/>
      </a:accent6>
      <a:hlink>
        <a:srgbClr val="60A5FA"/>
      </a:hlink>
      <a:folHlink>
        <a:srgbClr val="A78BFA"/>
      </a:folHlink>
    </a:clrScheme>
    <a:fontScheme name="DIR DIVING">
      <a:majorFont>
        <a:latin typeface="Aptos Display"/>
      </a:majorFont>
      <a:minorFont>
        <a:latin typeface="Aptos"/>
      </a:minorFont>
    </a:fontScheme>
    <a:fmtScheme name="DIR DIVING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DIR DIVING</Application>
  <PresentationFormat>On-screen Show (16:9)</PresentationFormat>
  <Slides>14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DIR DIVING Full Feature Presentation</dc:title>
  <dc:creator>DIR DIVING</dc:creator>
  <cp:lastModifiedBy>DIR DIVING</cp:lastModifiedBy>
  <dcterms:created xsi:type="dcterms:W3CDTF">2026-05-10T11:22:59Z</dcterms:created>
  <dcterms:modified xsi:type="dcterms:W3CDTF">2026-05-10T11:22:59Z</dcterms:modified>
</cp:coreProperties>
</file>