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jpg" ContentType="image/jpeg"/>
  <Default Extension="png" ContentType="image/p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</Types>
</file>

<file path=_rels\.rels>&#65279;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</file>

<file path=docProps\app.xml><?xml version="1.0" encoding="utf-8"?>
<Properties xmlns="http://schemas.openxmlformats.org/officeDocument/2006/extended-properties" xmlns:vt="http://schemas.openxmlformats.org/officeDocument/2006/docPropsVTypes">
  <Application>DIR DIVING</Application>
  <PresentationFormat>On-screen Show (16:9)</PresentationFormat>
  <Slides>9</Slides>
</Properties>
</file>

<file path=docProps\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DIR DIVING Project Presentation</dc:title>
  <dc:creator>DIR DIVING</dc:creator>
  <cp:lastModifiedBy>DIR DIVING</cp:lastModifiedBy>
  <dcterms:created xsi:type="dcterms:W3CDTF">2026-05-08T14:56:35Z</dcterms:created>
  <dcterms:modified xsi:type="dcterms:W3CDTF">2026-05-08T14:56:35Z</dcterms:modified>
</cp:coreProperties>
</file>

<file path=ppt\_rels\presentation.xml.rels>&#65279;<?xml version="1.0" encoding="UTF-8" standalone="yes"?>
<Relationships xmlns="http://schemas.openxmlformats.org/package/2006/relationships"><Relationship Id="rId1" Type="http://schemas.openxmlformats.org/officeDocument/2006/relationships/slide" Target="slides/slide1.xml"/><Relationship Id="rId2" Type="http://schemas.openxmlformats.org/officeDocument/2006/relationships/slide" Target="slides/slide2.xml"/><Relationship Id="rId3" Type="http://schemas.openxmlformats.org/officeDocument/2006/relationships/slide" Target="slides/slide3.xml"/><Relationship Id="rId4" Type="http://schemas.openxmlformats.org/officeDocument/2006/relationships/slide" Target="slides/slide4.xml"/><Relationship Id="rId5" Type="http://schemas.openxmlformats.org/officeDocument/2006/relationships/slide" Target="slides/slide5.xml"/><Relationship Id="rId6" Type="http://schemas.openxmlformats.org/officeDocument/2006/relationships/slide" Target="slides/slide6.xml"/><Relationship Id="rId7" Type="http://schemas.openxmlformats.org/officeDocument/2006/relationships/slide" Target="slides/slide7.xml"/><Relationship Id="rId8" Type="http://schemas.openxmlformats.org/officeDocument/2006/relationships/slide" Target="slides/slide8.xml"/><Relationship Id="rId9" Type="http://schemas.openxmlformats.org/officeDocument/2006/relationships/slide" Target="slides/slide9.xml"/><Relationship Id="rId10" Type="http://schemas.openxmlformats.org/officeDocument/2006/relationships/slideMaster" Target="slideMasters/slide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/Relationships>
</file>

<file path=ppt\presProps.xml><?xml version="1.0" encoding="utf-8"?>
<p:presentationPr xmlns:p="http://schemas.openxmlformats.org/presentationml/2006/main"/>
</file>

<file path=ppt\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0"/>
  </p:sldMasterIdLst>
  <p:sldIdLst>
    <p:sldId id="256" r:id="rId1"/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</p:sldIdLst>
  <p:sldSz cx="9144000" cy="5143500" type="screen16x9"/>
  <p:notesSz cx="6858000" cy="9144000"/>
  <p:defaultTextStyle/>
</p:presentation>
</file>

<file path=ppt\slideLayouts\_rels\slideLayout1.xml.rels>&#65279;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\slideLayouts\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\slideMasters\_rels\slideMaster1.xml.rels>&#65279;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theme" Target="../theme/theme1.xml"/>
</Relationships>
</file>

<file path=ppt\slideMasters\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\slides\_rels\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reference-look-and-feel.jpg"/>
</Relationships>

</file>

<file path=ppt\slides\_rels\slide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reference-look-and-feel.jpg"/>
</Relationships>

</file>

<file path=ppt\slides\_rels\slide3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reference-look-and-feel.jpg"/>
</Relationships>

</file>

<file path=ppt\slides\_rels\slide4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reference-look-and-feel.jpg"/>
</Relationships>

</file>

<file path=ppt\slides\_rels\slide5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reference-look-and-feel.jpg"/>
</Relationships>

</file>

<file path=ppt\slides\_rels\slide6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reference-look-and-feel.jpg"/>
</Relationships>

</file>

<file path=ppt\slides\_rels\slide7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reference-look-and-feel.jpg"/>
</Relationships>

</file>

<file path=ppt\slides\_rels\slide8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reference-look-and-feel.jpg"/>
</Relationships>

</file>

<file path=ppt\slides\_rels\slide9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reference-look-and-feel.jpg"/>
</Relationships>

</file>

<file path=ppt\slides\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Accent top"/>
          <p:cNvSpPr/>
          <p:nvPr/>
        </p:nvSpPr>
        <p:spPr>
          <a:xfrm>
            <a:off x="0" y="0"/>
            <a:ext cx="9144000" cy="91440"/>
          </a:xfrm>
          <a:prstGeom prst="rect">
            <a:avLst/>
          </a:prstGeom>
          <a:solidFill>
            <a:srgbClr val="30D158">
              <a:alpha val="100000"/>
            </a:srgbClr>
          </a:solidFill>
          <a:ln>
            <a:noFill/>
          </a:ln>
        </p:spPr>
      </p:sp>
      <p:sp>
        <p:nvSpPr>
          <p:cNvPr id="2" name="Title"/>
          <p:cNvSpPr txBox="1"/>
          <p:nvPr/>
        </p:nvSpPr>
        <p:spPr>
          <a:xfrm>
            <a:off x="457200" y="320000"/>
            <a:ext cx="5486400" cy="61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l"/>
            <a:r>
              <a:rPr lang="en-US" sz="3300" b="1">
                <a:solidFill>
                  <a:srgbClr val="FFFFFF"/>
                </a:solidFill>
              </a:rPr>
              <a:t>DIR DIVING</a:t>
            </a:r>
            <a:endParaRPr lang="en-US" sz="3300"/>
          </a:p>
        </p:txBody>
      </p:sp>
      <p:sp>
        <p:nvSpPr>
          <p:cNvPr id="3" name="Subtitle"/>
          <p:cNvSpPr txBox="1"/>
          <p:nvPr/>
        </p:nvSpPr>
        <p:spPr>
          <a:xfrm>
            <a:off x="457200" y="960000"/>
            <a:ext cx="5100000" cy="42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l"/>
            <a:r>
              <a:rPr lang="en-US" sz="1450">
                <a:solidFill>
                  <a:srgbClr val="00C7D9"/>
                </a:solidFill>
              </a:rPr>
              <a:t>watchOS dive computer interface</a:t>
            </a:r>
            <a:endParaRPr lang="en-US" sz="1450"/>
          </a:p>
        </p:txBody>
      </p:sp>
      <p:sp>
        <p:nvSpPr>
          <p:cNvPr id="4" name="Feature frame"/>
          <p:cNvSpPr/>
          <p:nvPr/>
        </p:nvSpPr>
        <p:spPr>
          <a:xfrm>
            <a:off x="457200" y="1540000"/>
            <a:ext cx="5050000" cy="2650000"/>
          </a:xfrm>
          <a:prstGeom prst="roundRect">
            <a:avLst/>
          </a:prstGeom>
          <a:noFill/>
          <a:ln w="12700">
            <a:solidFill>
              <a:srgbClr val="30D158"/>
            </a:solidFill>
          </a:ln>
        </p:spPr>
      </p:sp>
      <p:sp>
        <p:nvSpPr>
          <p:cNvPr id="5" name="Body"/>
          <p:cNvSpPr txBox="1"/>
          <p:nvPr/>
        </p:nvSpPr>
        <p:spPr>
          <a:xfrm>
            <a:off x="670000" y="1740000"/>
            <a:ext cx="4600000" cy="220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l"/>
            <a:r>
              <a:rPr lang="en-US" sz="1750">
                <a:solidFill>
                  <a:srgbClr val="DDEAF0"/>
                </a:solidFill>
              </a:rPr>
              <a:t>• Current UI must align to this exact supplied Apple Watch Ultra reference.</a:t>
            </a:r>
            <a:endParaRPr lang="en-US" sz="1750"/>
          </a:p>
          <a:p>
            <a:pPr algn="l"/>
            <a:r>
              <a:rPr lang="en-US" sz="1750">
                <a:solidFill>
                  <a:srgbClr val="DDEAF0"/>
                </a:solidFill>
              </a:rPr>
              <a:t>• Live screen follows the supplied mockup with octopus logo, separated depth area, right ascent gauge, stopwatch, and tactile controls.</a:t>
            </a:r>
            <a:endParaRPr lang="en-US" sz="1750"/>
          </a:p>
          <a:p>
            <a:pPr algn="l"/>
            <a:r>
              <a:rPr lang="en-US" sz="1750">
                <a:solidFill>
                  <a:srgbClr val="DDEAF0"/>
                </a:solidFill>
              </a:rPr>
              <a:t>• This visual language is now applied to live, compass, settings, buddy, log, detail, and image screens.</a:t>
            </a:r>
            <a:endParaRPr lang="en-US" sz="1750"/>
          </a:p>
        </p:txBody>
      </p:sp>
      <p:sp>
        <p:nvSpPr>
          <p:cNvPr id="6" name="Footer"/>
          <p:cNvSpPr txBox="1"/>
          <p:nvPr/>
        </p:nvSpPr>
        <p:spPr>
          <a:xfrm>
            <a:off x="457200" y="4680000"/>
            <a:ext cx="8200000" cy="26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l"/>
            <a:r>
              <a:rPr lang="en-US" sz="1050">
                <a:solidFill>
                  <a:srgbClr val="8EA7B3"/>
                </a:solidFill>
              </a:rPr>
              <a:t>Visual standard: Apple Watch Ultra frame, underwater bubbles background, black screen, large white metrics, blue/green/yellow/red functional colors.</a:t>
            </a:r>
            <a:endParaRPr lang="en-US" sz="1050"/>
          </a:p>
        </p:txBody>
      </p:sp>
      <p:sp>
        <p:nvSpPr>
          <p:cNvPr id="7" name="Preview frame"/>
          <p:cNvSpPr/>
          <p:nvPr/>
        </p:nvSpPr>
        <p:spPr>
          <a:xfrm>
            <a:off x="6250000" y="650000"/>
            <a:ext cx="2170000" cy="3900000"/>
          </a:xfrm>
          <a:prstGeom prst="roundRect">
            <a:avLst/>
          </a:prstGeom>
          <a:noFill/>
          <a:ln w="12700">
            <a:solidFill>
              <a:srgbClr val="007AFF"/>
            </a:solidFill>
          </a:ln>
        </p:spPr>
      </p:sp>
      <p:pic>
        <p:nvPicPr>
          <p:cNvPr id="8" name="Live UI preview"/>
          <p:cNvPicPr/>
          <p:nvPr/>
        </p:nvPicPr>
        <p:blipFill>
          <a:blip r:embed="rId2"/>
          <a:stretch>
            <a:fillRect/>
          </a:stretch>
        </p:blipFill>
        <p:spPr>
          <a:xfrm>
            <a:off x="6330000" y="760000"/>
            <a:ext cx="2010000" cy="2547000"/>
          </a:xfrm>
          <a:prstGeom prst="rect">
            <a:avLst/>
          </a:prstGeom>
        </p:spPr>
      </p:pic>
      <p:sp>
        <p:nvSpPr>
          <p:cNvPr id="9" name="Preview label"/>
          <p:cNvSpPr txBox="1"/>
          <p:nvPr/>
        </p:nvSpPr>
        <p:spPr>
          <a:xfrm>
            <a:off x="6230000" y="3480000"/>
            <a:ext cx="2220000" cy="48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ctr"/>
            <a:r>
              <a:rPr lang="en-US" sz="1300" b="1">
                <a:solidFill>
                  <a:srgbClr val="FFD60A"/>
                </a:solidFill>
              </a:rPr>
              <a:t>Reference look and feel</a:t>
            </a:r>
            <a:endParaRPr lang="en-US" sz="1300"/>
          </a:p>
        </p:txBody>
      </p:sp>
    </p:spTree>
  </p:cSld>
  <p:clrMapOvr>
    <a:masterClrMapping/>
  </p:clrMapOvr>
</p:sld>
</file>

<file path=ppt\slides\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Accent top"/>
          <p:cNvSpPr/>
          <p:nvPr/>
        </p:nvSpPr>
        <p:spPr>
          <a:xfrm>
            <a:off x="0" y="0"/>
            <a:ext cx="9144000" cy="91440"/>
          </a:xfrm>
          <a:prstGeom prst="rect">
            <a:avLst/>
          </a:prstGeom>
          <a:solidFill>
            <a:srgbClr val="007AFF">
              <a:alpha val="100000"/>
            </a:srgbClr>
          </a:solidFill>
          <a:ln>
            <a:noFill/>
          </a:ln>
        </p:spPr>
      </p:sp>
      <p:sp>
        <p:nvSpPr>
          <p:cNvPr id="2" name="Title"/>
          <p:cNvSpPr txBox="1"/>
          <p:nvPr/>
        </p:nvSpPr>
        <p:spPr>
          <a:xfrm>
            <a:off x="457200" y="320000"/>
            <a:ext cx="5486400" cy="61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l"/>
            <a:r>
              <a:rPr lang="en-US" sz="3300" b="1">
                <a:solidFill>
                  <a:srgbClr val="FFFFFF"/>
                </a:solidFill>
              </a:rPr>
              <a:t>Visual Standard</a:t>
            </a:r>
            <a:endParaRPr lang="en-US" sz="3300"/>
          </a:p>
        </p:txBody>
      </p:sp>
      <p:sp>
        <p:nvSpPr>
          <p:cNvPr id="3" name="Subtitle"/>
          <p:cNvSpPr txBox="1"/>
          <p:nvPr/>
        </p:nvSpPr>
        <p:spPr>
          <a:xfrm>
            <a:off x="457200" y="960000"/>
            <a:ext cx="5100000" cy="42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l"/>
            <a:r>
              <a:rPr lang="en-US" sz="1450">
                <a:solidFill>
                  <a:srgbClr val="00C7D9"/>
                </a:solidFill>
              </a:rPr>
              <a:t>the look and feel to preserve</a:t>
            </a:r>
            <a:endParaRPr lang="en-US" sz="1450"/>
          </a:p>
        </p:txBody>
      </p:sp>
      <p:sp>
        <p:nvSpPr>
          <p:cNvPr id="4" name="Feature frame"/>
          <p:cNvSpPr/>
          <p:nvPr/>
        </p:nvSpPr>
        <p:spPr>
          <a:xfrm>
            <a:off x="457200" y="1540000"/>
            <a:ext cx="5050000" cy="2650000"/>
          </a:xfrm>
          <a:prstGeom prst="roundRect">
            <a:avLst/>
          </a:prstGeom>
          <a:noFill/>
          <a:ln w="12700">
            <a:solidFill>
              <a:srgbClr val="007AFF"/>
            </a:solidFill>
          </a:ln>
        </p:spPr>
      </p:sp>
      <p:sp>
        <p:nvSpPr>
          <p:cNvPr id="5" name="Body"/>
          <p:cNvSpPr txBox="1"/>
          <p:nvPr/>
        </p:nvSpPr>
        <p:spPr>
          <a:xfrm>
            <a:off x="670000" y="1740000"/>
            <a:ext cx="4600000" cy="220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l"/>
            <a:r>
              <a:rPr lang="en-US" sz="1750">
                <a:solidFill>
                  <a:srgbClr val="DDEAF0"/>
                </a:solidFill>
              </a:rPr>
              <a:t>• Premium black Apple Watch Ultra-style canvas across every screen.</a:t>
            </a:r>
            <a:endParaRPr lang="en-US" sz="1750"/>
          </a:p>
          <a:p>
            <a:pPr algn="l"/>
            <a:r>
              <a:rPr lang="en-US" sz="1750">
                <a:solidFill>
                  <a:srgbClr val="DDEAF0"/>
                </a:solidFill>
              </a:rPr>
              <a:t>• Large white metrics with blue labels and green/yellow/red state colors.</a:t>
            </a:r>
            <a:endParaRPr lang="en-US" sz="1750"/>
          </a:p>
          <a:p>
            <a:pPr algn="l"/>
            <a:r>
              <a:rPr lang="en-US" sz="1750">
                <a:solidFill>
                  <a:srgbClr val="DDEAF0"/>
                </a:solidFill>
              </a:rPr>
              <a:t>• Shared DiveUI panels, thin borders, compact spacing, SwiftUI octopus logo, and no overlapping watch UI elements.</a:t>
            </a:r>
            <a:endParaRPr lang="en-US" sz="1750"/>
          </a:p>
        </p:txBody>
      </p:sp>
      <p:sp>
        <p:nvSpPr>
          <p:cNvPr id="6" name="Footer"/>
          <p:cNvSpPr txBox="1"/>
          <p:nvPr/>
        </p:nvSpPr>
        <p:spPr>
          <a:xfrm>
            <a:off x="457200" y="4680000"/>
            <a:ext cx="8200000" cy="26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l"/>
            <a:r>
              <a:rPr lang="en-US" sz="1050">
                <a:solidFill>
                  <a:srgbClr val="8EA7B3"/>
                </a:solidFill>
              </a:rPr>
              <a:t>Visual standard: Apple Watch Ultra frame, underwater bubbles background, black screen, large white metrics, blue/green/yellow/red functional colors.</a:t>
            </a:r>
            <a:endParaRPr lang="en-US" sz="1050"/>
          </a:p>
        </p:txBody>
      </p:sp>
      <p:sp>
        <p:nvSpPr>
          <p:cNvPr id="7" name="Preview frame"/>
          <p:cNvSpPr/>
          <p:nvPr/>
        </p:nvSpPr>
        <p:spPr>
          <a:xfrm>
            <a:off x="6250000" y="650000"/>
            <a:ext cx="2170000" cy="3900000"/>
          </a:xfrm>
          <a:prstGeom prst="roundRect">
            <a:avLst/>
          </a:prstGeom>
          <a:noFill/>
          <a:ln w="12700">
            <a:solidFill>
              <a:srgbClr val="007AFF"/>
            </a:solidFill>
          </a:ln>
        </p:spPr>
      </p:sp>
      <p:pic>
        <p:nvPicPr>
          <p:cNvPr id="8" name="Live UI preview"/>
          <p:cNvPicPr/>
          <p:nvPr/>
        </p:nvPicPr>
        <p:blipFill>
          <a:blip r:embed="rId2"/>
          <a:stretch>
            <a:fillRect/>
          </a:stretch>
        </p:blipFill>
        <p:spPr>
          <a:xfrm>
            <a:off x="6330000" y="760000"/>
            <a:ext cx="2010000" cy="2547000"/>
          </a:xfrm>
          <a:prstGeom prst="rect">
            <a:avLst/>
          </a:prstGeom>
        </p:spPr>
      </p:pic>
      <p:sp>
        <p:nvSpPr>
          <p:cNvPr id="9" name="Preview label"/>
          <p:cNvSpPr txBox="1"/>
          <p:nvPr/>
        </p:nvSpPr>
        <p:spPr>
          <a:xfrm>
            <a:off x="6230000" y="3480000"/>
            <a:ext cx="2220000" cy="48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ctr"/>
            <a:r>
              <a:rPr lang="en-US" sz="1300" b="1">
                <a:solidFill>
                  <a:srgbClr val="FFD60A"/>
                </a:solidFill>
              </a:rPr>
              <a:t>Reference look and feel</a:t>
            </a:r>
            <a:endParaRPr lang="en-US" sz="1300"/>
          </a:p>
        </p:txBody>
      </p:sp>
    </p:spTree>
  </p:cSld>
  <p:clrMapOvr>
    <a:masterClrMapping/>
  </p:clrMapOvr>
</p:sld>
</file>

<file path=ppt\slides\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Accent top"/>
          <p:cNvSpPr/>
          <p:nvPr/>
        </p:nvSpPr>
        <p:spPr>
          <a:xfrm>
            <a:off x="0" y="0"/>
            <a:ext cx="9144000" cy="91440"/>
          </a:xfrm>
          <a:prstGeom prst="rect">
            <a:avLst/>
          </a:prstGeom>
          <a:solidFill>
            <a:srgbClr val="30D158">
              <a:alpha val="100000"/>
            </a:srgbClr>
          </a:solidFill>
          <a:ln>
            <a:noFill/>
          </a:ln>
        </p:spPr>
      </p:sp>
      <p:sp>
        <p:nvSpPr>
          <p:cNvPr id="2" name="Title"/>
          <p:cNvSpPr txBox="1"/>
          <p:nvPr/>
        </p:nvSpPr>
        <p:spPr>
          <a:xfrm>
            <a:off x="457200" y="320000"/>
            <a:ext cx="5486400" cy="61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l"/>
            <a:r>
              <a:rPr lang="en-US" sz="3300" b="1">
                <a:solidFill>
                  <a:srgbClr val="FFFFFF"/>
                </a:solidFill>
              </a:rPr>
              <a:t>Live Dive Screen</a:t>
            </a:r>
            <a:endParaRPr lang="en-US" sz="3300"/>
          </a:p>
        </p:txBody>
      </p:sp>
      <p:sp>
        <p:nvSpPr>
          <p:cNvPr id="3" name="Subtitle"/>
          <p:cNvSpPr txBox="1"/>
          <p:nvPr/>
        </p:nvSpPr>
        <p:spPr>
          <a:xfrm>
            <a:off x="457200" y="960000"/>
            <a:ext cx="5100000" cy="42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l"/>
            <a:r>
              <a:rPr lang="en-US" sz="1450">
                <a:solidFill>
                  <a:srgbClr val="00C7D9"/>
                </a:solidFill>
              </a:rPr>
              <a:t>main operational surface</a:t>
            </a:r>
            <a:endParaRPr lang="en-US" sz="1450"/>
          </a:p>
        </p:txBody>
      </p:sp>
      <p:sp>
        <p:nvSpPr>
          <p:cNvPr id="4" name="Feature frame"/>
          <p:cNvSpPr/>
          <p:nvPr/>
        </p:nvSpPr>
        <p:spPr>
          <a:xfrm>
            <a:off x="457200" y="1540000"/>
            <a:ext cx="5050000" cy="2650000"/>
          </a:xfrm>
          <a:prstGeom prst="roundRect">
            <a:avLst/>
          </a:prstGeom>
          <a:noFill/>
          <a:ln w="12700">
            <a:solidFill>
              <a:srgbClr val="30D158"/>
            </a:solidFill>
          </a:ln>
        </p:spPr>
      </p:sp>
      <p:sp>
        <p:nvSpPr>
          <p:cNvPr id="5" name="Body"/>
          <p:cNvSpPr txBox="1"/>
          <p:nvPr/>
        </p:nvSpPr>
        <p:spPr>
          <a:xfrm>
            <a:off x="670000" y="1740000"/>
            <a:ext cx="4600000" cy="220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l"/>
            <a:r>
              <a:rPr lang="en-US" sz="1750">
                <a:solidFill>
                  <a:srgbClr val="DDEAF0"/>
                </a:solidFill>
              </a:rPr>
              <a:t>• Current depth dominates the center-left area with the blue meter unit aligned to the baseline.</a:t>
            </a:r>
            <a:endParaRPr lang="en-US" sz="1750"/>
          </a:p>
          <a:p>
            <a:pPr algn="l"/>
            <a:r>
              <a:rPr lang="en-US" sz="1750">
                <a:solidFill>
                  <a:srgbClr val="DDEAF0"/>
                </a:solidFill>
              </a:rPr>
              <a:t>• TTV and RunTime sit in a green technical panel; ascent rate remains isolated in the right column.</a:t>
            </a:r>
            <a:endParaRPr lang="en-US" sz="1750"/>
          </a:p>
          <a:p>
            <a:pPr algn="l"/>
            <a:r>
              <a:rPr lang="en-US" sz="1750">
                <a:solidFill>
                  <a:srgbClr val="DDEAF0"/>
                </a:solidFill>
              </a:rPr>
              <a:t>• Start, Stop, and Reset use color-coded action buttons.</a:t>
            </a:r>
            <a:endParaRPr lang="en-US" sz="1750"/>
          </a:p>
        </p:txBody>
      </p:sp>
      <p:sp>
        <p:nvSpPr>
          <p:cNvPr id="6" name="Footer"/>
          <p:cNvSpPr txBox="1"/>
          <p:nvPr/>
        </p:nvSpPr>
        <p:spPr>
          <a:xfrm>
            <a:off x="457200" y="4680000"/>
            <a:ext cx="8200000" cy="26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l"/>
            <a:r>
              <a:rPr lang="en-US" sz="1050">
                <a:solidFill>
                  <a:srgbClr val="8EA7B3"/>
                </a:solidFill>
              </a:rPr>
              <a:t>Visual standard: Apple Watch Ultra frame, underwater bubbles background, black screen, large white metrics, blue/green/yellow/red functional colors.</a:t>
            </a:r>
            <a:endParaRPr lang="en-US" sz="1050"/>
          </a:p>
        </p:txBody>
      </p:sp>
      <p:sp>
        <p:nvSpPr>
          <p:cNvPr id="7" name="Preview frame"/>
          <p:cNvSpPr/>
          <p:nvPr/>
        </p:nvSpPr>
        <p:spPr>
          <a:xfrm>
            <a:off x="6250000" y="650000"/>
            <a:ext cx="2170000" cy="3900000"/>
          </a:xfrm>
          <a:prstGeom prst="roundRect">
            <a:avLst/>
          </a:prstGeom>
          <a:noFill/>
          <a:ln w="12700">
            <a:solidFill>
              <a:srgbClr val="007AFF"/>
            </a:solidFill>
          </a:ln>
        </p:spPr>
      </p:sp>
      <p:pic>
        <p:nvPicPr>
          <p:cNvPr id="8" name="Live UI preview"/>
          <p:cNvPicPr/>
          <p:nvPr/>
        </p:nvPicPr>
        <p:blipFill>
          <a:blip r:embed="rId2"/>
          <a:stretch>
            <a:fillRect/>
          </a:stretch>
        </p:blipFill>
        <p:spPr>
          <a:xfrm>
            <a:off x="6330000" y="760000"/>
            <a:ext cx="2010000" cy="2547000"/>
          </a:xfrm>
          <a:prstGeom prst="rect">
            <a:avLst/>
          </a:prstGeom>
        </p:spPr>
      </p:pic>
      <p:sp>
        <p:nvSpPr>
          <p:cNvPr id="9" name="Preview label"/>
          <p:cNvSpPr txBox="1"/>
          <p:nvPr/>
        </p:nvSpPr>
        <p:spPr>
          <a:xfrm>
            <a:off x="6230000" y="3480000"/>
            <a:ext cx="2220000" cy="48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ctr"/>
            <a:r>
              <a:rPr lang="en-US" sz="1300" b="1">
                <a:solidFill>
                  <a:srgbClr val="FFD60A"/>
                </a:solidFill>
              </a:rPr>
              <a:t>Reference look and feel</a:t>
            </a:r>
            <a:endParaRPr lang="en-US" sz="1300"/>
          </a:p>
        </p:txBody>
      </p:sp>
    </p:spTree>
  </p:cSld>
  <p:clrMapOvr>
    <a:masterClrMapping/>
  </p:clrMapOvr>
</p:sld>
</file>

<file path=ppt\slides\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Accent top"/>
          <p:cNvSpPr/>
          <p:nvPr/>
        </p:nvSpPr>
        <p:spPr>
          <a:xfrm>
            <a:off x="0" y="0"/>
            <a:ext cx="9144000" cy="91440"/>
          </a:xfrm>
          <a:prstGeom prst="rect">
            <a:avLst/>
          </a:prstGeom>
          <a:solidFill>
            <a:srgbClr val="FFD60A">
              <a:alpha val="100000"/>
            </a:srgbClr>
          </a:solidFill>
          <a:ln>
            <a:noFill/>
          </a:ln>
        </p:spPr>
      </p:sp>
      <p:sp>
        <p:nvSpPr>
          <p:cNvPr id="2" name="Title"/>
          <p:cNvSpPr txBox="1"/>
          <p:nvPr/>
        </p:nvSpPr>
        <p:spPr>
          <a:xfrm>
            <a:off x="457200" y="320000"/>
            <a:ext cx="5486400" cy="61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l"/>
            <a:r>
              <a:rPr lang="en-US" sz="3300" b="1">
                <a:solidFill>
                  <a:srgbClr val="FFFFFF"/>
                </a:solidFill>
              </a:rPr>
              <a:t>Ascent Awareness</a:t>
            </a:r>
            <a:endParaRPr lang="en-US" sz="3300"/>
          </a:p>
        </p:txBody>
      </p:sp>
      <p:sp>
        <p:nvSpPr>
          <p:cNvPr id="3" name="Subtitle"/>
          <p:cNvSpPr txBox="1"/>
          <p:nvPr/>
        </p:nvSpPr>
        <p:spPr>
          <a:xfrm>
            <a:off x="457200" y="960000"/>
            <a:ext cx="5100000" cy="42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l"/>
            <a:r>
              <a:rPr lang="en-US" sz="1450">
                <a:solidFill>
                  <a:srgbClr val="00C7D9"/>
                </a:solidFill>
              </a:rPr>
              <a:t>rate gauge and warnings</a:t>
            </a:r>
            <a:endParaRPr lang="en-US" sz="1450"/>
          </a:p>
        </p:txBody>
      </p:sp>
      <p:sp>
        <p:nvSpPr>
          <p:cNvPr id="4" name="Feature frame"/>
          <p:cNvSpPr/>
          <p:nvPr/>
        </p:nvSpPr>
        <p:spPr>
          <a:xfrm>
            <a:off x="457200" y="1540000"/>
            <a:ext cx="5050000" cy="2650000"/>
          </a:xfrm>
          <a:prstGeom prst="roundRect">
            <a:avLst/>
          </a:prstGeom>
          <a:noFill/>
          <a:ln w="12700">
            <a:solidFill>
              <a:srgbClr val="FFD60A"/>
            </a:solidFill>
          </a:ln>
        </p:spPr>
      </p:sp>
      <p:sp>
        <p:nvSpPr>
          <p:cNvPr id="5" name="Body"/>
          <p:cNvSpPr txBox="1"/>
          <p:nvPr/>
        </p:nvSpPr>
        <p:spPr>
          <a:xfrm>
            <a:off x="670000" y="1740000"/>
            <a:ext cx="4600000" cy="220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l"/>
            <a:r>
              <a:rPr lang="en-US" sz="1750">
                <a:solidFill>
                  <a:srgbClr val="DDEAF0"/>
                </a:solidFill>
              </a:rPr>
              <a:t>• Vertical m/min scale mirrors the reference style.</a:t>
            </a:r>
            <a:endParaRPr lang="en-US" sz="1750"/>
          </a:p>
          <a:p>
            <a:pPr algn="l"/>
            <a:r>
              <a:rPr lang="en-US" sz="1750">
                <a:solidFill>
                  <a:srgbClr val="DDEAF0"/>
                </a:solidFill>
              </a:rPr>
              <a:t>• Green/yellow/red bands communicate safe, caution, and danger states.</a:t>
            </a:r>
            <a:endParaRPr lang="en-US" sz="1750"/>
          </a:p>
          <a:p>
            <a:pPr algn="l"/>
            <a:r>
              <a:rPr lang="en-US" sz="1750">
                <a:solidFill>
                  <a:srgbClr val="DDEAF0"/>
                </a:solidFill>
              </a:rPr>
              <a:t>• Blinking depth and haptics support fast recognition underwater.</a:t>
            </a:r>
            <a:endParaRPr lang="en-US" sz="1750"/>
          </a:p>
        </p:txBody>
      </p:sp>
      <p:sp>
        <p:nvSpPr>
          <p:cNvPr id="6" name="Footer"/>
          <p:cNvSpPr txBox="1"/>
          <p:nvPr/>
        </p:nvSpPr>
        <p:spPr>
          <a:xfrm>
            <a:off x="457200" y="4680000"/>
            <a:ext cx="8200000" cy="26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l"/>
            <a:r>
              <a:rPr lang="en-US" sz="1050">
                <a:solidFill>
                  <a:srgbClr val="8EA7B3"/>
                </a:solidFill>
              </a:rPr>
              <a:t>Visual standard: Apple Watch Ultra frame, underwater bubbles background, black screen, large white metrics, blue/green/yellow/red functional colors.</a:t>
            </a:r>
            <a:endParaRPr lang="en-US" sz="1050"/>
          </a:p>
        </p:txBody>
      </p:sp>
      <p:sp>
        <p:nvSpPr>
          <p:cNvPr id="7" name="Preview frame"/>
          <p:cNvSpPr/>
          <p:nvPr/>
        </p:nvSpPr>
        <p:spPr>
          <a:xfrm>
            <a:off x="6250000" y="650000"/>
            <a:ext cx="2170000" cy="3900000"/>
          </a:xfrm>
          <a:prstGeom prst="roundRect">
            <a:avLst/>
          </a:prstGeom>
          <a:noFill/>
          <a:ln w="12700">
            <a:solidFill>
              <a:srgbClr val="007AFF"/>
            </a:solidFill>
          </a:ln>
        </p:spPr>
      </p:sp>
      <p:pic>
        <p:nvPicPr>
          <p:cNvPr id="8" name="Live UI preview"/>
          <p:cNvPicPr/>
          <p:nvPr/>
        </p:nvPicPr>
        <p:blipFill>
          <a:blip r:embed="rId2"/>
          <a:stretch>
            <a:fillRect/>
          </a:stretch>
        </p:blipFill>
        <p:spPr>
          <a:xfrm>
            <a:off x="6330000" y="760000"/>
            <a:ext cx="2010000" cy="2547000"/>
          </a:xfrm>
          <a:prstGeom prst="rect">
            <a:avLst/>
          </a:prstGeom>
        </p:spPr>
      </p:pic>
      <p:sp>
        <p:nvSpPr>
          <p:cNvPr id="9" name="Preview label"/>
          <p:cNvSpPr txBox="1"/>
          <p:nvPr/>
        </p:nvSpPr>
        <p:spPr>
          <a:xfrm>
            <a:off x="6230000" y="3480000"/>
            <a:ext cx="2220000" cy="48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ctr"/>
            <a:r>
              <a:rPr lang="en-US" sz="1300" b="1">
                <a:solidFill>
                  <a:srgbClr val="FFD60A"/>
                </a:solidFill>
              </a:rPr>
              <a:t>Reference look and feel</a:t>
            </a:r>
            <a:endParaRPr lang="en-US" sz="1300"/>
          </a:p>
        </p:txBody>
      </p:sp>
    </p:spTree>
  </p:cSld>
  <p:clrMapOvr>
    <a:masterClrMapping/>
  </p:clrMapOvr>
</p:sld>
</file>

<file path=ppt\slides\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Accent top"/>
          <p:cNvSpPr/>
          <p:nvPr/>
        </p:nvSpPr>
        <p:spPr>
          <a:xfrm>
            <a:off x="0" y="0"/>
            <a:ext cx="9144000" cy="91440"/>
          </a:xfrm>
          <a:prstGeom prst="rect">
            <a:avLst/>
          </a:prstGeom>
          <a:solidFill>
            <a:srgbClr val="007AFF">
              <a:alpha val="100000"/>
            </a:srgbClr>
          </a:solidFill>
          <a:ln>
            <a:noFill/>
          </a:ln>
        </p:spPr>
      </p:sp>
      <p:sp>
        <p:nvSpPr>
          <p:cNvPr id="2" name="Title"/>
          <p:cNvSpPr txBox="1"/>
          <p:nvPr/>
        </p:nvSpPr>
        <p:spPr>
          <a:xfrm>
            <a:off x="457200" y="320000"/>
            <a:ext cx="5486400" cy="61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l"/>
            <a:r>
              <a:rPr lang="en-US" sz="3300" b="1">
                <a:solidFill>
                  <a:srgbClr val="FFFFFF"/>
                </a:solidFill>
              </a:rPr>
              <a:t>Compass</a:t>
            </a:r>
            <a:endParaRPr lang="en-US" sz="3300"/>
          </a:p>
        </p:txBody>
      </p:sp>
      <p:sp>
        <p:nvSpPr>
          <p:cNvPr id="3" name="Subtitle"/>
          <p:cNvSpPr txBox="1"/>
          <p:nvPr/>
        </p:nvSpPr>
        <p:spPr>
          <a:xfrm>
            <a:off x="457200" y="960000"/>
            <a:ext cx="5100000" cy="42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l"/>
            <a:r>
              <a:rPr lang="en-US" sz="1450">
                <a:solidFill>
                  <a:srgbClr val="00C7D9"/>
                </a:solidFill>
              </a:rPr>
              <a:t>navigation support</a:t>
            </a:r>
            <a:endParaRPr lang="en-US" sz="1450"/>
          </a:p>
        </p:txBody>
      </p:sp>
      <p:sp>
        <p:nvSpPr>
          <p:cNvPr id="4" name="Feature frame"/>
          <p:cNvSpPr/>
          <p:nvPr/>
        </p:nvSpPr>
        <p:spPr>
          <a:xfrm>
            <a:off x="457200" y="1540000"/>
            <a:ext cx="5050000" cy="2650000"/>
          </a:xfrm>
          <a:prstGeom prst="roundRect">
            <a:avLst/>
          </a:prstGeom>
          <a:noFill/>
          <a:ln w="12700">
            <a:solidFill>
              <a:srgbClr val="007AFF"/>
            </a:solidFill>
          </a:ln>
        </p:spPr>
      </p:sp>
      <p:sp>
        <p:nvSpPr>
          <p:cNvPr id="5" name="Body"/>
          <p:cNvSpPr txBox="1"/>
          <p:nvPr/>
        </p:nvSpPr>
        <p:spPr>
          <a:xfrm>
            <a:off x="670000" y="1740000"/>
            <a:ext cx="4600000" cy="220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l"/>
            <a:r>
              <a:rPr lang="en-US" sz="1750">
                <a:solidFill>
                  <a:srgbClr val="DDEAF0"/>
                </a:solidFill>
              </a:rPr>
              <a:t>• Compass now uses a black full-screen watch surface with large heading and bordered bearing panel.</a:t>
            </a:r>
            <a:endParaRPr lang="en-US" sz="1750"/>
          </a:p>
          <a:p>
            <a:pPr algn="l"/>
            <a:r>
              <a:rPr lang="en-US" sz="1750">
                <a:solidFill>
                  <a:srgbClr val="DDEAF0"/>
                </a:solidFill>
              </a:rPr>
              <a:t>• Bearing actions stay contextual and readable.</a:t>
            </a:r>
            <a:endParaRPr lang="en-US" sz="1750"/>
          </a:p>
          <a:p>
            <a:pPr algn="l"/>
            <a:r>
              <a:rPr lang="en-US" sz="1750">
                <a:solidFill>
                  <a:srgbClr val="DDEAF0"/>
                </a:solidFill>
              </a:rPr>
              <a:t>• Compass uses the same shared DiveUI technical styling as the live dive screen.</a:t>
            </a:r>
            <a:endParaRPr lang="en-US" sz="1750"/>
          </a:p>
        </p:txBody>
      </p:sp>
      <p:sp>
        <p:nvSpPr>
          <p:cNvPr id="6" name="Footer"/>
          <p:cNvSpPr txBox="1"/>
          <p:nvPr/>
        </p:nvSpPr>
        <p:spPr>
          <a:xfrm>
            <a:off x="457200" y="4680000"/>
            <a:ext cx="8200000" cy="26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l"/>
            <a:r>
              <a:rPr lang="en-US" sz="1050">
                <a:solidFill>
                  <a:srgbClr val="8EA7B3"/>
                </a:solidFill>
              </a:rPr>
              <a:t>Visual standard: Apple Watch Ultra frame, underwater bubbles background, black screen, large white metrics, blue/green/yellow/red functional colors.</a:t>
            </a:r>
            <a:endParaRPr lang="en-US" sz="1050"/>
          </a:p>
        </p:txBody>
      </p:sp>
      <p:sp>
        <p:nvSpPr>
          <p:cNvPr id="7" name="Preview frame"/>
          <p:cNvSpPr/>
          <p:nvPr/>
        </p:nvSpPr>
        <p:spPr>
          <a:xfrm>
            <a:off x="6250000" y="650000"/>
            <a:ext cx="2170000" cy="3900000"/>
          </a:xfrm>
          <a:prstGeom prst="roundRect">
            <a:avLst/>
          </a:prstGeom>
          <a:noFill/>
          <a:ln w="12700">
            <a:solidFill>
              <a:srgbClr val="007AFF"/>
            </a:solidFill>
          </a:ln>
        </p:spPr>
      </p:sp>
      <p:pic>
        <p:nvPicPr>
          <p:cNvPr id="8" name="Live UI preview"/>
          <p:cNvPicPr/>
          <p:nvPr/>
        </p:nvPicPr>
        <p:blipFill>
          <a:blip r:embed="rId2"/>
          <a:stretch>
            <a:fillRect/>
          </a:stretch>
        </p:blipFill>
        <p:spPr>
          <a:xfrm>
            <a:off x="6330000" y="760000"/>
            <a:ext cx="2010000" cy="2547000"/>
          </a:xfrm>
          <a:prstGeom prst="rect">
            <a:avLst/>
          </a:prstGeom>
        </p:spPr>
      </p:pic>
      <p:sp>
        <p:nvSpPr>
          <p:cNvPr id="9" name="Preview label"/>
          <p:cNvSpPr txBox="1"/>
          <p:nvPr/>
        </p:nvSpPr>
        <p:spPr>
          <a:xfrm>
            <a:off x="6230000" y="3480000"/>
            <a:ext cx="2220000" cy="48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ctr"/>
            <a:r>
              <a:rPr lang="en-US" sz="1300" b="1">
                <a:solidFill>
                  <a:srgbClr val="FFD60A"/>
                </a:solidFill>
              </a:rPr>
              <a:t>Reference look and feel</a:t>
            </a:r>
            <a:endParaRPr lang="en-US" sz="1300"/>
          </a:p>
        </p:txBody>
      </p:sp>
    </p:spTree>
  </p:cSld>
  <p:clrMapOvr>
    <a:masterClrMapping/>
  </p:clrMapOvr>
</p:sld>
</file>

<file path=ppt\slides\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Accent top"/>
          <p:cNvSpPr/>
          <p:nvPr/>
        </p:nvSpPr>
        <p:spPr>
          <a:xfrm>
            <a:off x="0" y="0"/>
            <a:ext cx="9144000" cy="9144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</p:sp>
      <p:sp>
        <p:nvSpPr>
          <p:cNvPr id="2" name="Title"/>
          <p:cNvSpPr txBox="1"/>
          <p:nvPr/>
        </p:nvSpPr>
        <p:spPr>
          <a:xfrm>
            <a:off x="457200" y="320000"/>
            <a:ext cx="5486400" cy="61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l"/>
            <a:r>
              <a:rPr lang="en-US" sz="3300" b="1">
                <a:solidFill>
                  <a:srgbClr val="FFFFFF"/>
                </a:solidFill>
              </a:rPr>
              <a:t>Dive Log and Export</a:t>
            </a:r>
            <a:endParaRPr lang="en-US" sz="3300"/>
          </a:p>
        </p:txBody>
      </p:sp>
      <p:sp>
        <p:nvSpPr>
          <p:cNvPr id="3" name="Subtitle"/>
          <p:cNvSpPr txBox="1"/>
          <p:nvPr/>
        </p:nvSpPr>
        <p:spPr>
          <a:xfrm>
            <a:off x="457200" y="960000"/>
            <a:ext cx="5100000" cy="42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l"/>
            <a:r>
              <a:rPr lang="en-US" sz="1450">
                <a:solidFill>
                  <a:srgbClr val="00C7D9"/>
                </a:solidFill>
              </a:rPr>
              <a:t>after-dive workflow</a:t>
            </a:r>
            <a:endParaRPr lang="en-US" sz="1450"/>
          </a:p>
        </p:txBody>
      </p:sp>
      <p:sp>
        <p:nvSpPr>
          <p:cNvPr id="4" name="Feature frame"/>
          <p:cNvSpPr/>
          <p:nvPr/>
        </p:nvSpPr>
        <p:spPr>
          <a:xfrm>
            <a:off x="457200" y="1540000"/>
            <a:ext cx="5050000" cy="2650000"/>
          </a:xfrm>
          <a:prstGeom prst="roundRect">
            <a:avLst/>
          </a:prstGeom>
          <a:noFill/>
          <a:ln w="12700">
            <a:solidFill>
              <a:srgbClr val="FFFFFF"/>
            </a:solidFill>
          </a:ln>
        </p:spPr>
      </p:sp>
      <p:sp>
        <p:nvSpPr>
          <p:cNvPr id="5" name="Body"/>
          <p:cNvSpPr txBox="1"/>
          <p:nvPr/>
        </p:nvSpPr>
        <p:spPr>
          <a:xfrm>
            <a:off x="670000" y="1740000"/>
            <a:ext cx="4600000" cy="220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l"/>
            <a:r>
              <a:rPr lang="en-US" sz="1750">
                <a:solidFill>
                  <a:srgbClr val="DDEAF0"/>
                </a:solidFill>
              </a:rPr>
              <a:t>• Latest dive sessions are stored locally.</a:t>
            </a:r>
            <a:endParaRPr lang="en-US" sz="1750"/>
          </a:p>
          <a:p>
            <a:pPr algn="l"/>
            <a:r>
              <a:rPr lang="en-US" sz="1750">
                <a:solidFill>
                  <a:srgbClr val="DDEAF0"/>
                </a:solidFill>
              </a:rPr>
              <a:t>• Dive details include profile, temperature, GPS entry/exit metadata, and CSV export.</a:t>
            </a:r>
            <a:endParaRPr lang="en-US" sz="1750"/>
          </a:p>
          <a:p>
            <a:pPr algn="l"/>
            <a:r>
              <a:rPr lang="en-US" sz="1750">
                <a:solidFill>
                  <a:srgbClr val="DDEAF0"/>
                </a:solidFill>
              </a:rPr>
              <a:t>• Log and detail screens now use the same compact Ultra-style metric panels and command buttons.</a:t>
            </a:r>
            <a:endParaRPr lang="en-US" sz="1750"/>
          </a:p>
        </p:txBody>
      </p:sp>
      <p:sp>
        <p:nvSpPr>
          <p:cNvPr id="6" name="Footer"/>
          <p:cNvSpPr txBox="1"/>
          <p:nvPr/>
        </p:nvSpPr>
        <p:spPr>
          <a:xfrm>
            <a:off x="457200" y="4680000"/>
            <a:ext cx="8200000" cy="26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l"/>
            <a:r>
              <a:rPr lang="en-US" sz="1050">
                <a:solidFill>
                  <a:srgbClr val="8EA7B3"/>
                </a:solidFill>
              </a:rPr>
              <a:t>Visual standard: Apple Watch Ultra frame, underwater bubbles background, black screen, large white metrics, blue/green/yellow/red functional colors.</a:t>
            </a:r>
            <a:endParaRPr lang="en-US" sz="1050"/>
          </a:p>
        </p:txBody>
      </p:sp>
      <p:sp>
        <p:nvSpPr>
          <p:cNvPr id="7" name="Preview frame"/>
          <p:cNvSpPr/>
          <p:nvPr/>
        </p:nvSpPr>
        <p:spPr>
          <a:xfrm>
            <a:off x="6250000" y="650000"/>
            <a:ext cx="2170000" cy="3900000"/>
          </a:xfrm>
          <a:prstGeom prst="roundRect">
            <a:avLst/>
          </a:prstGeom>
          <a:noFill/>
          <a:ln w="12700">
            <a:solidFill>
              <a:srgbClr val="007AFF"/>
            </a:solidFill>
          </a:ln>
        </p:spPr>
      </p:sp>
      <p:pic>
        <p:nvPicPr>
          <p:cNvPr id="8" name="Live UI preview"/>
          <p:cNvPicPr/>
          <p:nvPr/>
        </p:nvPicPr>
        <p:blipFill>
          <a:blip r:embed="rId2"/>
          <a:stretch>
            <a:fillRect/>
          </a:stretch>
        </p:blipFill>
        <p:spPr>
          <a:xfrm>
            <a:off x="6330000" y="760000"/>
            <a:ext cx="2010000" cy="2547000"/>
          </a:xfrm>
          <a:prstGeom prst="rect">
            <a:avLst/>
          </a:prstGeom>
        </p:spPr>
      </p:pic>
      <p:sp>
        <p:nvSpPr>
          <p:cNvPr id="9" name="Preview label"/>
          <p:cNvSpPr txBox="1"/>
          <p:nvPr/>
        </p:nvSpPr>
        <p:spPr>
          <a:xfrm>
            <a:off x="6230000" y="3480000"/>
            <a:ext cx="2220000" cy="48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ctr"/>
            <a:r>
              <a:rPr lang="en-US" sz="1300" b="1">
                <a:solidFill>
                  <a:srgbClr val="FFD60A"/>
                </a:solidFill>
              </a:rPr>
              <a:t>Reference look and feel</a:t>
            </a:r>
            <a:endParaRPr lang="en-US" sz="1300"/>
          </a:p>
        </p:txBody>
      </p:sp>
    </p:spTree>
  </p:cSld>
  <p:clrMapOvr>
    <a:masterClrMapping/>
  </p:clrMapOvr>
</p:sld>
</file>

<file path=ppt\slides\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Accent top"/>
          <p:cNvSpPr/>
          <p:nvPr/>
        </p:nvSpPr>
        <p:spPr>
          <a:xfrm>
            <a:off x="0" y="0"/>
            <a:ext cx="9144000" cy="91440"/>
          </a:xfrm>
          <a:prstGeom prst="rect">
            <a:avLst/>
          </a:prstGeom>
          <a:solidFill>
            <a:srgbClr val="FF453A">
              <a:alpha val="100000"/>
            </a:srgbClr>
          </a:solidFill>
          <a:ln>
            <a:noFill/>
          </a:ln>
        </p:spPr>
      </p:sp>
      <p:sp>
        <p:nvSpPr>
          <p:cNvPr id="2" name="Title"/>
          <p:cNvSpPr txBox="1"/>
          <p:nvPr/>
        </p:nvSpPr>
        <p:spPr>
          <a:xfrm>
            <a:off x="457200" y="320000"/>
            <a:ext cx="5486400" cy="61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l"/>
            <a:r>
              <a:rPr lang="en-US" sz="3300" b="1">
                <a:solidFill>
                  <a:srgbClr val="FFFFFF"/>
                </a:solidFill>
              </a:rPr>
              <a:t>Buddy Pairing Experimental</a:t>
            </a:r>
            <a:endParaRPr lang="en-US" sz="3300"/>
          </a:p>
        </p:txBody>
      </p:sp>
      <p:sp>
        <p:nvSpPr>
          <p:cNvPr id="3" name="Subtitle"/>
          <p:cNvSpPr txBox="1"/>
          <p:nvPr/>
        </p:nvSpPr>
        <p:spPr>
          <a:xfrm>
            <a:off x="457200" y="960000"/>
            <a:ext cx="5100000" cy="42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l"/>
            <a:r>
              <a:rPr lang="en-US" sz="1450">
                <a:solidFill>
                  <a:srgbClr val="00C7D9"/>
                </a:solidFill>
              </a:rPr>
              <a:t>branch: codex/experimental-features</a:t>
            </a:r>
            <a:endParaRPr lang="en-US" sz="1450"/>
          </a:p>
        </p:txBody>
      </p:sp>
      <p:sp>
        <p:nvSpPr>
          <p:cNvPr id="4" name="Feature frame"/>
          <p:cNvSpPr/>
          <p:nvPr/>
        </p:nvSpPr>
        <p:spPr>
          <a:xfrm>
            <a:off x="457200" y="1540000"/>
            <a:ext cx="5050000" cy="2650000"/>
          </a:xfrm>
          <a:prstGeom prst="roundRect">
            <a:avLst/>
          </a:prstGeom>
          <a:noFill/>
          <a:ln w="12700">
            <a:solidFill>
              <a:srgbClr val="FF453A"/>
            </a:solidFill>
          </a:ln>
        </p:spPr>
      </p:sp>
      <p:sp>
        <p:nvSpPr>
          <p:cNvPr id="5" name="Body"/>
          <p:cNvSpPr txBox="1"/>
          <p:nvPr/>
        </p:nvSpPr>
        <p:spPr>
          <a:xfrm>
            <a:off x="670000" y="1740000"/>
            <a:ext cx="4600000" cy="220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l"/>
            <a:r>
              <a:rPr lang="en-US" sz="1750">
                <a:solidFill>
                  <a:srgbClr val="DDEAF0"/>
                </a:solidFill>
              </a:rPr>
              <a:t>• Pre-dive pairing identifies the selected DIR DIVING buddy before entering the water.</a:t>
            </a:r>
            <a:endParaRPr lang="en-US" sz="1750"/>
          </a:p>
          <a:p>
            <a:pPr algn="l"/>
            <a:r>
              <a:rPr lang="en-US" sz="1750">
                <a:solidFill>
                  <a:srgbClr val="DDEAF0"/>
                </a:solidFill>
              </a:rPr>
              <a:t>• Pairing is blocked during an active dive and in-progress pairing scans are cancelled.</a:t>
            </a:r>
            <a:endParaRPr lang="en-US" sz="1750"/>
          </a:p>
          <a:p>
            <a:pPr algn="l"/>
            <a:r>
              <a:rPr lang="en-US" sz="1750">
                <a:solidFill>
                  <a:srgbClr val="DDEAF0"/>
                </a:solidFill>
              </a:rPr>
              <a:t>• Buddy Link, proximity color, haptics, messages, and plausible direction remain experimental.</a:t>
            </a:r>
            <a:endParaRPr lang="en-US" sz="1750"/>
          </a:p>
        </p:txBody>
      </p:sp>
      <p:sp>
        <p:nvSpPr>
          <p:cNvPr id="6" name="Footer"/>
          <p:cNvSpPr txBox="1"/>
          <p:nvPr/>
        </p:nvSpPr>
        <p:spPr>
          <a:xfrm>
            <a:off x="457200" y="4680000"/>
            <a:ext cx="8200000" cy="26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l"/>
            <a:r>
              <a:rPr lang="en-US" sz="1050">
                <a:solidFill>
                  <a:srgbClr val="8EA7B3"/>
                </a:solidFill>
              </a:rPr>
              <a:t>Visual standard: Apple Watch Ultra frame, underwater bubbles background, black screen, large white metrics, blue/green/yellow/red functional colors.</a:t>
            </a:r>
            <a:endParaRPr lang="en-US" sz="1050"/>
          </a:p>
        </p:txBody>
      </p:sp>
      <p:sp>
        <p:nvSpPr>
          <p:cNvPr id="7" name="Preview frame"/>
          <p:cNvSpPr/>
          <p:nvPr/>
        </p:nvSpPr>
        <p:spPr>
          <a:xfrm>
            <a:off x="6250000" y="650000"/>
            <a:ext cx="2170000" cy="3900000"/>
          </a:xfrm>
          <a:prstGeom prst="roundRect">
            <a:avLst/>
          </a:prstGeom>
          <a:noFill/>
          <a:ln w="12700">
            <a:solidFill>
              <a:srgbClr val="007AFF"/>
            </a:solidFill>
          </a:ln>
        </p:spPr>
      </p:sp>
      <p:pic>
        <p:nvPicPr>
          <p:cNvPr id="8" name="Live UI preview"/>
          <p:cNvPicPr/>
          <p:nvPr/>
        </p:nvPicPr>
        <p:blipFill>
          <a:blip r:embed="rId2"/>
          <a:stretch>
            <a:fillRect/>
          </a:stretch>
        </p:blipFill>
        <p:spPr>
          <a:xfrm>
            <a:off x="6330000" y="760000"/>
            <a:ext cx="2010000" cy="2547000"/>
          </a:xfrm>
          <a:prstGeom prst="rect">
            <a:avLst/>
          </a:prstGeom>
        </p:spPr>
      </p:pic>
      <p:sp>
        <p:nvSpPr>
          <p:cNvPr id="9" name="Preview label"/>
          <p:cNvSpPr txBox="1"/>
          <p:nvPr/>
        </p:nvSpPr>
        <p:spPr>
          <a:xfrm>
            <a:off x="6230000" y="3480000"/>
            <a:ext cx="2220000" cy="48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ctr"/>
            <a:r>
              <a:rPr lang="en-US" sz="1300" b="1">
                <a:solidFill>
                  <a:srgbClr val="FFD60A"/>
                </a:solidFill>
              </a:rPr>
              <a:t>Reference look and feel</a:t>
            </a:r>
            <a:endParaRPr lang="en-US" sz="1300"/>
          </a:p>
        </p:txBody>
      </p:sp>
    </p:spTree>
  </p:cSld>
  <p:clrMapOvr>
    <a:masterClrMapping/>
  </p:clrMapOvr>
</p:sld>
</file>

<file path=ppt\slides\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Accent top"/>
          <p:cNvSpPr/>
          <p:nvPr/>
        </p:nvSpPr>
        <p:spPr>
          <a:xfrm>
            <a:off x="0" y="0"/>
            <a:ext cx="9144000" cy="91440"/>
          </a:xfrm>
          <a:prstGeom prst="rect">
            <a:avLst/>
          </a:prstGeom>
          <a:solidFill>
            <a:srgbClr val="00C7D9">
              <a:alpha val="100000"/>
            </a:srgbClr>
          </a:solidFill>
          <a:ln>
            <a:noFill/>
          </a:ln>
        </p:spPr>
      </p:sp>
      <p:sp>
        <p:nvSpPr>
          <p:cNvPr id="2" name="Title"/>
          <p:cNvSpPr txBox="1"/>
          <p:nvPr/>
        </p:nvSpPr>
        <p:spPr>
          <a:xfrm>
            <a:off x="457200" y="320000"/>
            <a:ext cx="5486400" cy="61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l"/>
            <a:r>
              <a:rPr lang="en-US" sz="3300" b="1">
                <a:solidFill>
                  <a:srgbClr val="FFFFFF"/>
                </a:solidFill>
              </a:rPr>
              <a:t>Architecture</a:t>
            </a:r>
            <a:endParaRPr lang="en-US" sz="3300"/>
          </a:p>
        </p:txBody>
      </p:sp>
      <p:sp>
        <p:nvSpPr>
          <p:cNvPr id="3" name="Subtitle"/>
          <p:cNvSpPr txBox="1"/>
          <p:nvPr/>
        </p:nvSpPr>
        <p:spPr>
          <a:xfrm>
            <a:off x="457200" y="960000"/>
            <a:ext cx="5100000" cy="42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l"/>
            <a:r>
              <a:rPr lang="en-US" sz="1450">
                <a:solidFill>
                  <a:srgbClr val="00C7D9"/>
                </a:solidFill>
              </a:rPr>
              <a:t>SwiftUI watchOS project</a:t>
            </a:r>
            <a:endParaRPr lang="en-US" sz="1450"/>
          </a:p>
        </p:txBody>
      </p:sp>
      <p:sp>
        <p:nvSpPr>
          <p:cNvPr id="4" name="Feature frame"/>
          <p:cNvSpPr/>
          <p:nvPr/>
        </p:nvSpPr>
        <p:spPr>
          <a:xfrm>
            <a:off x="457200" y="1540000"/>
            <a:ext cx="5050000" cy="2650000"/>
          </a:xfrm>
          <a:prstGeom prst="roundRect">
            <a:avLst/>
          </a:prstGeom>
          <a:noFill/>
          <a:ln w="12700">
            <a:solidFill>
              <a:srgbClr val="00C7D9"/>
            </a:solidFill>
          </a:ln>
        </p:spPr>
      </p:sp>
      <p:sp>
        <p:nvSpPr>
          <p:cNvPr id="5" name="Body"/>
          <p:cNvSpPr txBox="1"/>
          <p:nvPr/>
        </p:nvSpPr>
        <p:spPr>
          <a:xfrm>
            <a:off x="670000" y="1740000"/>
            <a:ext cx="4600000" cy="220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l"/>
            <a:r>
              <a:rPr lang="en-US" sz="1750">
                <a:solidFill>
                  <a:srgbClr val="DDEAF0"/>
                </a:solidFill>
              </a:rPr>
              <a:t>• SwiftUI views, services, models, utilities, and XcodeGen project configuration.</a:t>
            </a:r>
            <a:endParaRPr lang="en-US" sz="1750"/>
          </a:p>
          <a:p>
            <a:pPr algn="l"/>
            <a:r>
              <a:rPr lang="en-US" sz="1750">
                <a:solidFill>
                  <a:srgbClr val="DDEAF0"/>
                </a:solidFill>
              </a:rPr>
              <a:t>• Water submersion APIs are prepared while the entitlement is pending.</a:t>
            </a:r>
            <a:endParaRPr lang="en-US" sz="1750"/>
          </a:p>
          <a:p>
            <a:pPr algn="l"/>
            <a:r>
              <a:rPr lang="en-US" sz="1750">
                <a:solidFill>
                  <a:srgbClr val="DDEAF0"/>
                </a:solidFill>
              </a:rPr>
              <a:t>• UI changes are isolated in view components for maintainability.</a:t>
            </a:r>
            <a:endParaRPr lang="en-US" sz="1750"/>
          </a:p>
        </p:txBody>
      </p:sp>
      <p:sp>
        <p:nvSpPr>
          <p:cNvPr id="6" name="Footer"/>
          <p:cNvSpPr txBox="1"/>
          <p:nvPr/>
        </p:nvSpPr>
        <p:spPr>
          <a:xfrm>
            <a:off x="457200" y="4680000"/>
            <a:ext cx="8200000" cy="26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l"/>
            <a:r>
              <a:rPr lang="en-US" sz="1050">
                <a:solidFill>
                  <a:srgbClr val="8EA7B3"/>
                </a:solidFill>
              </a:rPr>
              <a:t>Visual standard: Apple Watch Ultra frame, underwater bubbles background, black screen, large white metrics, blue/green/yellow/red functional colors.</a:t>
            </a:r>
            <a:endParaRPr lang="en-US" sz="1050"/>
          </a:p>
        </p:txBody>
      </p:sp>
      <p:sp>
        <p:nvSpPr>
          <p:cNvPr id="7" name="Preview frame"/>
          <p:cNvSpPr/>
          <p:nvPr/>
        </p:nvSpPr>
        <p:spPr>
          <a:xfrm>
            <a:off x="6250000" y="650000"/>
            <a:ext cx="2170000" cy="3900000"/>
          </a:xfrm>
          <a:prstGeom prst="roundRect">
            <a:avLst/>
          </a:prstGeom>
          <a:noFill/>
          <a:ln w="12700">
            <a:solidFill>
              <a:srgbClr val="007AFF"/>
            </a:solidFill>
          </a:ln>
        </p:spPr>
      </p:sp>
      <p:pic>
        <p:nvPicPr>
          <p:cNvPr id="8" name="Live UI preview"/>
          <p:cNvPicPr/>
          <p:nvPr/>
        </p:nvPicPr>
        <p:blipFill>
          <a:blip r:embed="rId2"/>
          <a:stretch>
            <a:fillRect/>
          </a:stretch>
        </p:blipFill>
        <p:spPr>
          <a:xfrm>
            <a:off x="6330000" y="760000"/>
            <a:ext cx="2010000" cy="2547000"/>
          </a:xfrm>
          <a:prstGeom prst="rect">
            <a:avLst/>
          </a:prstGeom>
        </p:spPr>
      </p:pic>
      <p:sp>
        <p:nvSpPr>
          <p:cNvPr id="9" name="Preview label"/>
          <p:cNvSpPr txBox="1"/>
          <p:nvPr/>
        </p:nvSpPr>
        <p:spPr>
          <a:xfrm>
            <a:off x="6230000" y="3480000"/>
            <a:ext cx="2220000" cy="48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ctr"/>
            <a:r>
              <a:rPr lang="en-US" sz="1300" b="1">
                <a:solidFill>
                  <a:srgbClr val="FFD60A"/>
                </a:solidFill>
              </a:rPr>
              <a:t>Reference look and feel</a:t>
            </a:r>
            <a:endParaRPr lang="en-US" sz="1300"/>
          </a:p>
        </p:txBody>
      </p:sp>
    </p:spTree>
  </p:cSld>
  <p:clrMapOvr>
    <a:masterClrMapping/>
  </p:clrMapOvr>
</p:sld>
</file>

<file path=ppt\slides\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Accent top"/>
          <p:cNvSpPr/>
          <p:nvPr/>
        </p:nvSpPr>
        <p:spPr>
          <a:xfrm>
            <a:off x="0" y="0"/>
            <a:ext cx="9144000" cy="91440"/>
          </a:xfrm>
          <a:prstGeom prst="rect">
            <a:avLst/>
          </a:prstGeom>
          <a:solidFill>
            <a:srgbClr val="FFD60A">
              <a:alpha val="100000"/>
            </a:srgbClr>
          </a:solidFill>
          <a:ln>
            <a:noFill/>
          </a:ln>
        </p:spPr>
      </p:sp>
      <p:sp>
        <p:nvSpPr>
          <p:cNvPr id="2" name="Title"/>
          <p:cNvSpPr txBox="1"/>
          <p:nvPr/>
        </p:nvSpPr>
        <p:spPr>
          <a:xfrm>
            <a:off x="457200" y="320000"/>
            <a:ext cx="5486400" cy="61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l"/>
            <a:r>
              <a:rPr lang="en-US" sz="3300" b="1">
                <a:solidFill>
                  <a:srgbClr val="FFFFFF"/>
                </a:solidFill>
              </a:rPr>
              <a:t>Next Steps</a:t>
            </a:r>
            <a:endParaRPr lang="en-US" sz="3300"/>
          </a:p>
        </p:txBody>
      </p:sp>
      <p:sp>
        <p:nvSpPr>
          <p:cNvPr id="3" name="Subtitle"/>
          <p:cNvSpPr txBox="1"/>
          <p:nvPr/>
        </p:nvSpPr>
        <p:spPr>
          <a:xfrm>
            <a:off x="457200" y="960000"/>
            <a:ext cx="5100000" cy="42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l"/>
            <a:r>
              <a:rPr lang="en-US" sz="1450">
                <a:solidFill>
                  <a:srgbClr val="00C7D9"/>
                </a:solidFill>
              </a:rPr>
              <a:t>validation path</a:t>
            </a:r>
            <a:endParaRPr lang="en-US" sz="1450"/>
          </a:p>
        </p:txBody>
      </p:sp>
      <p:sp>
        <p:nvSpPr>
          <p:cNvPr id="4" name="Feature frame"/>
          <p:cNvSpPr/>
          <p:nvPr/>
        </p:nvSpPr>
        <p:spPr>
          <a:xfrm>
            <a:off x="457200" y="1540000"/>
            <a:ext cx="5050000" cy="2650000"/>
          </a:xfrm>
          <a:prstGeom prst="roundRect">
            <a:avLst/>
          </a:prstGeom>
          <a:noFill/>
          <a:ln w="12700">
            <a:solidFill>
              <a:srgbClr val="FFD60A"/>
            </a:solidFill>
          </a:ln>
        </p:spPr>
      </p:sp>
      <p:sp>
        <p:nvSpPr>
          <p:cNvPr id="5" name="Body"/>
          <p:cNvSpPr txBox="1"/>
          <p:nvPr/>
        </p:nvSpPr>
        <p:spPr>
          <a:xfrm>
            <a:off x="670000" y="1740000"/>
            <a:ext cx="4600000" cy="220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l"/>
            <a:r>
              <a:rPr lang="en-US" sz="1750">
                <a:solidFill>
                  <a:srgbClr val="DDEAF0"/>
                </a:solidFill>
              </a:rPr>
              <a:t>• Regenerate the Xcode project with XcodeGen on macOS.</a:t>
            </a:r>
            <a:endParaRPr lang="en-US" sz="1750"/>
          </a:p>
          <a:p>
            <a:pPr algn="l"/>
            <a:r>
              <a:rPr lang="en-US" sz="1750">
                <a:solidFill>
                  <a:srgbClr val="DDEAF0"/>
                </a:solidFill>
              </a:rPr>
              <a:t>• Build with the granted water submersion entitlement once available.</a:t>
            </a:r>
            <a:endParaRPr lang="en-US" sz="1750"/>
          </a:p>
          <a:p>
            <a:pPr algn="l"/>
            <a:r>
              <a:rPr lang="en-US" sz="1750">
                <a:solidFill>
                  <a:srgbClr val="DDEAF0"/>
                </a:solidFill>
              </a:rPr>
              <a:t>• Keep future UI work aligned with the supplied mockup: octopus logo, black canvas, blue labels, and separated metric regions.</a:t>
            </a:r>
            <a:endParaRPr lang="en-US" sz="1750"/>
          </a:p>
        </p:txBody>
      </p:sp>
      <p:sp>
        <p:nvSpPr>
          <p:cNvPr id="6" name="Footer"/>
          <p:cNvSpPr txBox="1"/>
          <p:nvPr/>
        </p:nvSpPr>
        <p:spPr>
          <a:xfrm>
            <a:off x="457200" y="4680000"/>
            <a:ext cx="8200000" cy="26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l"/>
            <a:r>
              <a:rPr lang="en-US" sz="1050">
                <a:solidFill>
                  <a:srgbClr val="8EA7B3"/>
                </a:solidFill>
              </a:rPr>
              <a:t>Visual standard: Apple Watch Ultra frame, underwater bubbles background, black screen, large white metrics, blue/green/yellow/red functional colors.</a:t>
            </a:r>
            <a:endParaRPr lang="en-US" sz="1050"/>
          </a:p>
        </p:txBody>
      </p:sp>
      <p:sp>
        <p:nvSpPr>
          <p:cNvPr id="7" name="Preview frame"/>
          <p:cNvSpPr/>
          <p:nvPr/>
        </p:nvSpPr>
        <p:spPr>
          <a:xfrm>
            <a:off x="6250000" y="650000"/>
            <a:ext cx="2170000" cy="3900000"/>
          </a:xfrm>
          <a:prstGeom prst="roundRect">
            <a:avLst/>
          </a:prstGeom>
          <a:noFill/>
          <a:ln w="12700">
            <a:solidFill>
              <a:srgbClr val="007AFF"/>
            </a:solidFill>
          </a:ln>
        </p:spPr>
      </p:sp>
      <p:pic>
        <p:nvPicPr>
          <p:cNvPr id="8" name="Live UI preview"/>
          <p:cNvPicPr/>
          <p:nvPr/>
        </p:nvPicPr>
        <p:blipFill>
          <a:blip r:embed="rId2"/>
          <a:stretch>
            <a:fillRect/>
          </a:stretch>
        </p:blipFill>
        <p:spPr>
          <a:xfrm>
            <a:off x="6330000" y="760000"/>
            <a:ext cx="2010000" cy="2547000"/>
          </a:xfrm>
          <a:prstGeom prst="rect">
            <a:avLst/>
          </a:prstGeom>
        </p:spPr>
      </p:pic>
      <p:sp>
        <p:nvSpPr>
          <p:cNvPr id="9" name="Preview label"/>
          <p:cNvSpPr txBox="1"/>
          <p:nvPr/>
        </p:nvSpPr>
        <p:spPr>
          <a:xfrm>
            <a:off x="6230000" y="3480000"/>
            <a:ext cx="2220000" cy="48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ctr"/>
            <a:r>
              <a:rPr lang="en-US" sz="1300" b="1">
                <a:solidFill>
                  <a:srgbClr val="FFD60A"/>
                </a:solidFill>
              </a:rPr>
              <a:t>Reference look and feel</a:t>
            </a:r>
            <a:endParaRPr lang="en-US" sz="1300"/>
          </a:p>
        </p:txBody>
      </p:sp>
    </p:spTree>
  </p:cSld>
  <p:clrMapOvr>
    <a:masterClrMapping/>
  </p:clrMapOvr>
</p:sld>
</file>

<file path=ppt\theme\theme1.xml><?xml version="1.0" encoding="utf-8"?>
<a:theme xmlns:a="http://schemas.openxmlformats.org/drawingml/2006/main" name="DIR DIVING">
  <a:themeElements>
    <a:clrScheme name="DIR DIVING">
      <a:dk1>
        <a:srgbClr val="071820"/>
      </a:dk1>
      <a:lt1>
        <a:srgbClr val="FFFFFF"/>
      </a:lt1>
      <a:dk2>
        <a:srgbClr val="0F2A36"/>
      </a:dk2>
      <a:lt2>
        <a:srgbClr val="DDEAF0"/>
      </a:lt2>
      <a:accent1>
        <a:srgbClr val="00C7D9"/>
      </a:accent1>
      <a:accent2>
        <a:srgbClr val="36D399"/>
      </a:accent2>
      <a:accent3>
        <a:srgbClr val="FACC15"/>
      </a:accent3>
      <a:accent4>
        <a:srgbClr val="EF4444"/>
      </a:accent4>
      <a:accent5>
        <a:srgbClr val="60A5FA"/>
      </a:accent5>
      <a:accent6>
        <a:srgbClr val="A78BFA"/>
      </a:accent6>
      <a:hlink>
        <a:srgbClr val="60A5FA"/>
      </a:hlink>
      <a:folHlink>
        <a:srgbClr val="A78BFA"/>
      </a:folHlink>
    </a:clrScheme>
    <a:fontScheme name="DIR DIVING">
      <a:majorFont>
        <a:latin typeface="Aptos Display"/>
      </a:majorFont>
      <a:minorFont>
        <a:latin typeface="Aptos"/>
      </a:minorFont>
    </a:fontScheme>
    <a:fmtScheme name="DIR DIVING">
      <a:fillStyleLst>
        <a:solidFill>
          <a:schemeClr val="phClr"/>
        </a:solidFill>
      </a:fillStyleLst>
      <a:lnStyleLst>
        <a:ln w="6350">
          <a:solidFill>
            <a:schemeClr val="phClr"/>
          </a:solidFill>
        </a:ln>
      </a:lnStyleLst>
      <a:effectStyleLst>
        <a:effectStyle>
          <a:effectLst/>
        </a:effectStyle>
      </a:effectStyleLst>
      <a:bgFillStyleLst>
        <a:solidFill>
          <a:schemeClr val="phClr"/>
        </a:solidFill>
      </a:bgFillStyleLst>
    </a:fmtScheme>
  </a:themeElements>
</a:theme>
</file>

<file path=ppt\viewProps.xml><?xml version="1.0" encoding="utf-8"?>
<p:viewPr xmlns:p="http://schemas.openxmlformats.org/presentationml/2006/main"/>
</file>